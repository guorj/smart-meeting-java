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8"/>
  </p:notesMasterIdLst>
  <p:handoutMasterIdLst>
    <p:handoutMasterId r:id="rId10"/>
  </p:handoutMasterIdLst>
  <p:sldIdLst>
    <p:sldId id="257" r:id="rId3"/>
    <p:sldId id="258" r:id="rId4"/>
    <p:sldId id="264" r:id="rId5"/>
    <p:sldId id="261" r:id="rId6"/>
    <p:sldId id="263" r:id="rId7"/>
    <p:sldId id="262" r:id="rId9"/>
  </p:sldIdLst>
  <p:sldSz cx="12167870" cy="6839585"/>
  <p:notesSz cx="6858000" cy="9144000"/>
  <p:embeddedFontLst>
    <p:embeddedFont>
      <p:font typeface="汉仪旗黑-55简" panose="00020600040101010101" charset="-122"/>
      <p:regular r:id="rId15"/>
    </p:embeddedFont>
    <p:embeddedFont>
      <p:font typeface="汉仪雅酷黑 75W" panose="020B0804020202020204" charset="-122"/>
      <p:bold r:id="rId16"/>
    </p:embeddedFont>
    <p:embeddedFont>
      <p:font typeface="微软雅黑" panose="020B0503020204020204" charset="-122"/>
      <p:regular r:id="rId17"/>
    </p:embeddedFont>
  </p:embeddedFontLst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2" userDrawn="1">
          <p15:clr>
            <a:srgbClr val="A4A3A4"/>
          </p15:clr>
        </p15:guide>
        <p15:guide id="3" pos="7523" userDrawn="1">
          <p15:clr>
            <a:srgbClr val="A4A3A4"/>
          </p15:clr>
        </p15:guide>
        <p15:guide id="4" pos="3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483810881" name="WPS_1679281038" initials="W" lastIdx="1" clrIdx="2"/>
  <p:cmAuthor id="1" name="123" initials="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3AB8D"/>
    <a:srgbClr val="AA6500"/>
    <a:srgbClr val="475987"/>
    <a:srgbClr val="D2DDF5"/>
    <a:srgbClr val="DFC2AD"/>
    <a:srgbClr val="EAEFFA"/>
    <a:srgbClr val="E3E9DC"/>
    <a:srgbClr val="4B5E8F"/>
    <a:srgbClr val="394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322"/>
        <p:guide pos="7523"/>
        <p:guide pos="31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83.xml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雅酷黑 75W" panose="020B0804020202020204" charset="-122"/>
              <a:ea typeface="汉仪旗黑-55简" panose="00020600040101010101" charset="-122"/>
              <a:sym typeface="汉仪雅酷黑 75W" panose="020B0804020202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汉仪雅酷黑 75W" panose="020B0804020202020204" charset="-122"/>
                <a:ea typeface="汉仪旗黑-55简" panose="00020600040101010101" charset="-122"/>
                <a:sym typeface="汉仪雅酷黑 75W" panose="020B0804020202020204" charset="-122"/>
              </a:rPr>
            </a:fld>
            <a:endParaRPr lang="zh-CN" altLang="en-US">
              <a:latin typeface="汉仪雅酷黑 75W" panose="020B0804020202020204" charset="-122"/>
              <a:ea typeface="汉仪旗黑-55简" panose="00020600040101010101" charset="-122"/>
              <a:sym typeface="汉仪雅酷黑 75W" panose="020B0804020202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雅酷黑 75W" panose="020B0804020202020204" charset="-122"/>
              <a:ea typeface="汉仪旗黑-55简" panose="00020600040101010101" charset="-122"/>
              <a:sym typeface="汉仪雅酷黑 75W" panose="020B0804020202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汉仪雅酷黑 75W" panose="020B0804020202020204" charset="-122"/>
                <a:ea typeface="汉仪旗黑-55简" panose="00020600040101010101" charset="-122"/>
                <a:sym typeface="汉仪雅酷黑 75W" panose="020B0804020202020204" charset="-122"/>
              </a:rPr>
            </a:fld>
            <a:endParaRPr lang="zh-CN" altLang="en-US">
              <a:latin typeface="汉仪雅酷黑 75W" panose="020B0804020202020204" charset="-122"/>
              <a:ea typeface="汉仪旗黑-55简" panose="00020600040101010101" charset="-122"/>
              <a:sym typeface="汉仪雅酷黑 75W" panose="020B0804020202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雅酷黑 75W" panose="020B0804020202020204" charset="-122"/>
                <a:ea typeface="汉仪旗黑-55简" panose="00020600040101010101" charset="-122"/>
                <a:sym typeface="汉仪雅酷黑 75W" panose="020B0804020202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雅酷黑 75W" panose="020B0804020202020204" charset="-122"/>
                <a:ea typeface="汉仪旗黑-55简" panose="00020600040101010101" charset="-122"/>
                <a:sym typeface="汉仪雅酷黑 75W" panose="020B0804020202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雅酷黑 75W" panose="020B0804020202020204" charset="-122"/>
                <a:ea typeface="汉仪旗黑-55简" panose="00020600040101010101" charset="-122"/>
                <a:sym typeface="汉仪雅酷黑 75W" panose="020B0804020202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雅酷黑 75W" panose="020B0804020202020204" charset="-122"/>
                <a:ea typeface="汉仪旗黑-55简" panose="00020600040101010101" charset="-122"/>
                <a:sym typeface="汉仪雅酷黑 75W" panose="020B0804020202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雅酷黑 75W" panose="020B0804020202020204" charset="-122"/>
        <a:ea typeface="汉仪旗黑-55简" panose="00020600040101010101" charset="-122"/>
        <a:cs typeface="+mn-cs"/>
        <a:sym typeface="汉仪雅酷黑 75W" panose="020B0804020202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雅酷黑 75W" panose="020B0804020202020204" charset="-122"/>
        <a:ea typeface="汉仪旗黑-55简" panose="00020600040101010101" charset="-122"/>
        <a:cs typeface="+mn-cs"/>
        <a:sym typeface="汉仪雅酷黑 75W" panose="020B0804020202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雅酷黑 75W" panose="020B0804020202020204" charset="-122"/>
        <a:ea typeface="汉仪旗黑-55简" panose="00020600040101010101" charset="-122"/>
        <a:cs typeface="+mn-cs"/>
        <a:sym typeface="汉仪雅酷黑 75W" panose="020B0804020202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雅酷黑 75W" panose="020B0804020202020204" charset="-122"/>
        <a:ea typeface="汉仪旗黑-55简" panose="00020600040101010101" charset="-122"/>
        <a:cs typeface="+mn-cs"/>
        <a:sym typeface="汉仪雅酷黑 75W" panose="020B0804020202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雅酷黑 75W" panose="020B0804020202020204" charset="-122"/>
        <a:ea typeface="汉仪旗黑-55简" panose="00020600040101010101" charset="-122"/>
        <a:cs typeface="+mn-cs"/>
        <a:sym typeface="汉仪雅酷黑 75W" panose="020B0804020202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image" Target="../media/image3.png"/><Relationship Id="rId6" Type="http://schemas.microsoft.com/office/2007/relationships/hdphoto" Target="../media/image2.png"/><Relationship Id="rId5" Type="http://schemas.openxmlformats.org/officeDocument/2006/relationships/image" Target="../media/image1.png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>
                <a:ea typeface="汉仪旗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ea typeface="汉仪旗黑-55简" panose="0002060004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>
                <a:ea typeface="汉仪旗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ea typeface="汉仪旗黑-55简" panose="00020600040101010101" charset="-122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  <a:ea typeface="汉仪旗黑-55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  <a:ea typeface="汉仪旗黑-55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 rot="0">
            <a:off x="4086860" y="598170"/>
            <a:ext cx="6286500" cy="147955"/>
            <a:chOff x="6142" y="924"/>
            <a:chExt cx="9900" cy="233"/>
          </a:xfrm>
        </p:grpSpPr>
        <p:grpSp>
          <p:nvGrpSpPr>
            <p:cNvPr id="5" name="组合 4"/>
            <p:cNvGrpSpPr/>
            <p:nvPr/>
          </p:nvGrpSpPr>
          <p:grpSpPr>
            <a:xfrm>
              <a:off x="15633" y="924"/>
              <a:ext cx="409" cy="233"/>
              <a:chOff x="886" y="808"/>
              <a:chExt cx="756" cy="430"/>
            </a:xfrm>
          </p:grpSpPr>
          <p:sp>
            <p:nvSpPr>
              <p:cNvPr id="7" name="燕尾形 6"/>
              <p:cNvSpPr/>
              <p:nvPr/>
            </p:nvSpPr>
            <p:spPr>
              <a:xfrm>
                <a:off x="886" y="808"/>
                <a:ext cx="430" cy="430"/>
              </a:xfrm>
              <a:prstGeom prst="chevron">
                <a:avLst/>
              </a:prstGeom>
              <a:solidFill>
                <a:srgbClr val="313D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ea typeface="汉仪旗黑-55简" panose="00020600040101010101" charset="-122"/>
                </a:endParaRPr>
              </a:p>
            </p:txBody>
          </p:sp>
          <p:sp>
            <p:nvSpPr>
              <p:cNvPr id="8" name="燕尾形 7"/>
              <p:cNvSpPr/>
              <p:nvPr/>
            </p:nvSpPr>
            <p:spPr>
              <a:xfrm>
                <a:off x="1212" y="808"/>
                <a:ext cx="430" cy="430"/>
              </a:xfrm>
              <a:prstGeom prst="chevron">
                <a:avLst/>
              </a:prstGeom>
              <a:solidFill>
                <a:srgbClr val="4B5E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ea typeface="汉仪旗黑-55简" panose="00020600040101010101" charset="-122"/>
                </a:endParaRPr>
              </a:p>
            </p:txBody>
          </p:sp>
        </p:grpSp>
        <p:cxnSp>
          <p:nvCxnSpPr>
            <p:cNvPr id="25" name="直接连接符 24"/>
            <p:cNvCxnSpPr/>
            <p:nvPr/>
          </p:nvCxnSpPr>
          <p:spPr>
            <a:xfrm>
              <a:off x="6142" y="1040"/>
              <a:ext cx="8760" cy="0"/>
            </a:xfrm>
            <a:prstGeom prst="line">
              <a:avLst/>
            </a:prstGeom>
            <a:ln w="12700">
              <a:solidFill>
                <a:srgbClr val="DFE4EA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 descr="7b0a202020202266696c746572223a202230220a7d0a"/>
          <p:cNvGrpSpPr>
            <a:grpSpLocks noChangeAspect="1"/>
          </p:cNvGrpSpPr>
          <p:nvPr userDrawn="1"/>
        </p:nvGrpSpPr>
        <p:grpSpPr>
          <a:xfrm>
            <a:off x="10373360" y="0"/>
            <a:ext cx="991870" cy="1113155"/>
            <a:chOff x="8425" y="4246"/>
            <a:chExt cx="2350" cy="2638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5">
              <a:extLst>
                <a:ext uri="{CDFE0825-6DEF-4EF5-8246-60DE8C826C90}">
                  <a14:imgProps xmlns:a14="http://schemas.microsoft.com/office/drawing/2010/main">
                    <a14:imgLayer r:embed="rId6">
                      <a14:imgEffect name="7"/>
                    </a14:imgLayer>
                  </a14:imgProps>
                </a:ext>
              </a:extLst>
            </a:blip>
            <a:srcRect l="8122" t="2906" r="9618" b="4971"/>
            <a:stretch>
              <a:fillRect/>
            </a:stretch>
          </p:blipFill>
          <p:spPr>
            <a:xfrm>
              <a:off x="8425" y="4246"/>
              <a:ext cx="2350" cy="2638"/>
            </a:xfrm>
            <a:prstGeom prst="rect">
              <a:avLst/>
            </a:prstGeom>
            <a:noFill/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7" cstate="print">
              <a:lum bright="7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22" t="2906" r="9618" b="56795"/>
            <a:stretch>
              <a:fillRect/>
            </a:stretch>
          </p:blipFill>
          <p:spPr>
            <a:xfrm>
              <a:off x="8425" y="4246"/>
              <a:ext cx="2350" cy="1154"/>
            </a:xfrm>
            <a:prstGeom prst="rect">
              <a:avLst/>
            </a:prstGeom>
            <a:noFill/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>
                <a:ea typeface="汉仪旗黑-55简" panose="00020600040101010101" charset="-122"/>
              </a:defRPr>
            </a:lvl1pPr>
            <a:lvl2pPr marL="685800" indent="-228600">
              <a:defRPr spc="300">
                <a:ea typeface="汉仪旗黑-55简" panose="00020600040101010101" charset="-122"/>
              </a:defRPr>
            </a:lvl2pPr>
            <a:lvl3pPr marL="1143000" indent="-228600">
              <a:defRPr spc="300">
                <a:ea typeface="汉仪旗黑-55简" panose="00020600040101010101" charset="-122"/>
              </a:defRPr>
            </a:lvl3pPr>
            <a:lvl4pPr marL="1600200" indent="-228600">
              <a:defRPr spc="300">
                <a:ea typeface="汉仪旗黑-55简" panose="00020600040101010101" charset="-122"/>
              </a:defRPr>
            </a:lvl4pPr>
            <a:lvl5pPr marL="2057400" indent="-228600">
              <a:defRPr spc="300"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tags" Target="../tags/tag62.xml"/><Relationship Id="rId23" Type="http://schemas.openxmlformats.org/officeDocument/2006/relationships/tags" Target="../tags/tag61.xml"/><Relationship Id="rId22" Type="http://schemas.openxmlformats.org/officeDocument/2006/relationships/tags" Target="../tags/tag60.xml"/><Relationship Id="rId21" Type="http://schemas.openxmlformats.org/officeDocument/2006/relationships/tags" Target="../tags/tag59.xml"/><Relationship Id="rId20" Type="http://schemas.openxmlformats.org/officeDocument/2006/relationships/tags" Target="../tags/tag58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57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4EA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汉仪旗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汉仪旗黑-55简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6.png"/><Relationship Id="rId20" Type="http://schemas.openxmlformats.org/officeDocument/2006/relationships/tags" Target="../tags/tag82.xml"/><Relationship Id="rId2" Type="http://schemas.openxmlformats.org/officeDocument/2006/relationships/tags" Target="../tags/tag64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720000" y="1260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CONTENTS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4155240" y="1763260"/>
            <a:ext cx="503999" cy="503999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55240" y="1853260"/>
            <a:ext cx="503999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B5E8F"/>
                </a:solidFill>
                <a:latin typeface="微软雅黑" panose="020B0503020204020204" charset="-122"/>
                <a:sym typeface="+mn-ea"/>
              </a:rPr>
              <a:t>0</a:t>
            </a:r>
            <a:r>
              <a:rPr lang="en-US" sz="1600" b="1">
                <a:solidFill>
                  <a:srgbClr val="4B5E8F"/>
                </a:solidFill>
                <a:latin typeface="微软雅黑" panose="020B0503020204020204" charset="-122"/>
                <a:sym typeface="+mn-ea"/>
              </a:rPr>
              <a:t>1</a:t>
            </a:r>
            <a:endParaRPr lang="en-US" sz="1600" b="1">
              <a:solidFill>
                <a:srgbClr val="4B5E8F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75240" y="176326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微软雅黑" panose="020B0503020204020204" charset="-122"/>
              </a:rPr>
              <a:t>用户体验旅程</a:t>
            </a:r>
            <a:endParaRPr sz="15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75240" y="205126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 panose="020B0503020204020204" charset="-122"/>
              </a:rPr>
              <a:t>一场会议的完整体验 —— 核心主图</a:t>
            </a:r>
            <a:endParaRPr sz="9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4875240" y="2483260"/>
            <a:ext cx="5220000" cy="0"/>
          </a:xfrm>
          <a:prstGeom prst="line">
            <a:avLst/>
          </a:prstGeom>
          <a:ln w="381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155240" y="2699259"/>
            <a:ext cx="503999" cy="503999"/>
          </a:xfrm>
          <a:prstGeom prst="ellipse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55240" y="2789260"/>
            <a:ext cx="50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B5E8F"/>
                </a:solidFill>
                <a:latin typeface="微软雅黑" panose="020B0503020204020204" charset="-122"/>
              </a:rPr>
              <a:t>02</a:t>
            </a:r>
            <a:endParaRPr sz="1600" b="1">
              <a:solidFill>
                <a:srgbClr val="4B5E8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75240" y="2699259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微软雅黑" panose="020B0503020204020204" charset="-122"/>
              </a:rPr>
              <a:t>功能进度矩阵</a:t>
            </a:r>
            <a:endParaRPr sz="15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75240" y="298726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 panose="020B0503020204020204" charset="-122"/>
              </a:rPr>
              <a:t>18个功能点开发状态总览</a:t>
            </a:r>
            <a:endParaRPr sz="9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4875240" y="3419260"/>
            <a:ext cx="5220000" cy="0"/>
          </a:xfrm>
          <a:prstGeom prst="line">
            <a:avLst/>
          </a:prstGeom>
          <a:ln w="381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140000" y="3672100"/>
            <a:ext cx="503999" cy="503999"/>
          </a:xfrm>
          <a:prstGeom prst="ellipse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40000" y="3762100"/>
            <a:ext cx="50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B5E8F"/>
                </a:solidFill>
                <a:latin typeface="微软雅黑" panose="020B0503020204020204" charset="-122"/>
              </a:rPr>
              <a:t>04</a:t>
            </a:r>
            <a:endParaRPr sz="1600" b="1">
              <a:solidFill>
                <a:srgbClr val="4B5E8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60000" y="36721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微软雅黑" panose="020B0503020204020204" charset="-122"/>
              </a:rPr>
              <a:t>传统 vs 智能</a:t>
            </a:r>
            <a:endParaRPr sz="15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60000" y="39601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 panose="020B0503020204020204" charset="-122"/>
              </a:rPr>
              <a:t>AI 做掉 90% 运营工作</a:t>
            </a:r>
            <a:endParaRPr sz="9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4860000" y="4392100"/>
            <a:ext cx="5220000" cy="0"/>
          </a:xfrm>
          <a:prstGeom prst="line">
            <a:avLst/>
          </a:prstGeom>
          <a:ln w="381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140000" y="4608100"/>
            <a:ext cx="503999" cy="503999"/>
          </a:xfrm>
          <a:prstGeom prst="ellipse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40000" y="4698100"/>
            <a:ext cx="50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B5E8F"/>
                </a:solidFill>
                <a:latin typeface="微软雅黑" panose="020B0503020204020204" charset="-122"/>
              </a:rPr>
              <a:t>05</a:t>
            </a:r>
            <a:endParaRPr sz="1600" b="1">
              <a:solidFill>
                <a:srgbClr val="4B5E8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60000" y="46081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微软雅黑" panose="020B0503020204020204" charset="-122"/>
              </a:rPr>
              <a:t>后续计划</a:t>
            </a:r>
            <a:endParaRPr sz="15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60000" y="48961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 panose="020B0503020204020204" charset="-122"/>
              </a:rPr>
              <a:t>2个月/6个月里程碑</a:t>
            </a:r>
            <a:endParaRPr sz="9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0350" y="197485"/>
            <a:ext cx="1466850" cy="876300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4155440" y="1073785"/>
            <a:ext cx="60833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1500">
                <a:solidFill>
                  <a:srgbClr val="A0B4D0"/>
                </a:solidFill>
                <a:latin typeface="微软雅黑" panose="020B0503020204020204" charset="-122"/>
                <a:sym typeface="+mn-ea"/>
              </a:rPr>
              <a:t> AI</a:t>
            </a:r>
            <a:r>
              <a:rPr lang="zh-CN" sz="1500">
                <a:solidFill>
                  <a:srgbClr val="A0B4D0"/>
                </a:solidFill>
                <a:latin typeface="微软雅黑" panose="020B0503020204020204" charset="-122"/>
                <a:sym typeface="+mn-ea"/>
              </a:rPr>
              <a:t>为</a:t>
            </a:r>
            <a:r>
              <a:rPr sz="1500">
                <a:solidFill>
                  <a:srgbClr val="A0B4D0"/>
                </a:solidFill>
                <a:latin typeface="微软雅黑" panose="020B0503020204020204" charset="-122"/>
                <a:sym typeface="+mn-ea"/>
              </a:rPr>
              <a:t>中枢 </a:t>
            </a:r>
            <a:r>
              <a:rPr lang="zh-CN" sz="1500">
                <a:solidFill>
                  <a:srgbClr val="A0B4D0"/>
                </a:solidFill>
                <a:latin typeface="微软雅黑" panose="020B0503020204020204" charset="-122"/>
                <a:ea typeface="宋体" panose="02010600030101010101" pitchFamily="2" charset="-122"/>
                <a:sym typeface="+mn-ea"/>
              </a:rPr>
              <a:t>、</a:t>
            </a:r>
            <a:r>
              <a:rPr lang="zh-CN" altLang="en-US" sz="1500">
                <a:solidFill>
                  <a:srgbClr val="A0B4D0"/>
                </a:solidFill>
                <a:latin typeface="微软雅黑" panose="020B0503020204020204" charset="-122"/>
                <a:sym typeface="+mn-ea"/>
              </a:rPr>
              <a:t>工程做骨架、全链路</a:t>
            </a:r>
            <a:r>
              <a:rPr lang="zh-CN" altLang="en-US" sz="1500">
                <a:solidFill>
                  <a:srgbClr val="A0B4D0"/>
                </a:solidFill>
                <a:latin typeface="微软雅黑" panose="020B0503020204020204" charset="-122"/>
                <a:sym typeface="+mn-ea"/>
              </a:rPr>
              <a:t>闭环</a:t>
            </a:r>
            <a:endParaRPr lang="zh-CN" altLang="en-US" sz="1500">
              <a:solidFill>
                <a:srgbClr val="A0B4D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150620" y="2987040"/>
            <a:ext cx="1388745" cy="71945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500"/>
              <a:t>目录</a:t>
            </a:r>
            <a:endParaRPr lang="zh-CN" altLang="en-US"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67999" cy="1152000"/>
          </a:xfrm>
          <a:prstGeom prst="rect">
            <a:avLst/>
          </a:prstGeom>
          <a:solidFill>
            <a:srgbClr val="E8F0FE">
              <a:alpha val="9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3E6B"/>
                </a:solidFill>
                <a:latin typeface="微软雅黑" panose="020B0503020204020204" charset="-122"/>
              </a:rPr>
              <a:t>01  用户体验旅程</a:t>
            </a:r>
            <a:endParaRPr sz="2200" b="1">
              <a:solidFill>
                <a:srgbClr val="2C3E6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0000" y="708520"/>
            <a:ext cx="100800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微软雅黑" panose="020B0503020204020204" charset="-122"/>
              </a:rPr>
              <a:t>一场</a:t>
            </a:r>
            <a:r>
              <a:rPr lang="zh-CN" sz="1000" b="0">
                <a:solidFill>
                  <a:srgbClr val="1E293B"/>
                </a:solidFill>
                <a:latin typeface="微软雅黑" panose="020B0503020204020204" charset="-122"/>
              </a:rPr>
              <a:t>会议</a:t>
            </a:r>
            <a:r>
              <a:rPr sz="1000" b="0">
                <a:solidFill>
                  <a:srgbClr val="1E293B"/>
                </a:solidFill>
                <a:latin typeface="微软雅黑" panose="020B0503020204020204" charset="-122"/>
              </a:rPr>
              <a:t>的完整体验：人只需到场、发言、决策，其余全部由系统自动完成</a:t>
            </a:r>
            <a:r>
              <a:rPr lang="en-US" sz="10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1000" b="0">
                <a:solidFill>
                  <a:srgbClr val="1E293B"/>
                </a:solidFill>
                <a:latin typeface="微软雅黑" panose="020B0503020204020204" charset="-122"/>
                <a:ea typeface="宋体" panose="02010600030101010101" pitchFamily="2" charset="-122"/>
              </a:rPr>
              <a:t>（以综合管理会</a:t>
            </a:r>
            <a:r>
              <a:rPr lang="zh-CN" altLang="en-US" sz="1000" b="0">
                <a:solidFill>
                  <a:srgbClr val="1E293B"/>
                </a:solidFill>
                <a:latin typeface="微软雅黑" panose="020B0503020204020204" charset="-122"/>
                <a:ea typeface="宋体" panose="02010600030101010101" pitchFamily="2" charset="-122"/>
              </a:rPr>
              <a:t>为例）</a:t>
            </a:r>
            <a:endParaRPr lang="zh-CN" altLang="en-US" sz="1000" b="0">
              <a:solidFill>
                <a:srgbClr val="1E293B"/>
              </a:solidFill>
              <a:latin typeface="微软雅黑" panose="020B0503020204020204" charset="-122"/>
              <a:ea typeface="宋体" panose="02010600030101010101" pitchFamily="2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0000" y="1548000"/>
            <a:ext cx="10978515" cy="0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11273155" y="1373505"/>
            <a:ext cx="421640" cy="215900"/>
          </a:xfrm>
          <a:prstGeom prst="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750" y="1284605"/>
            <a:ext cx="1800225" cy="2628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1E293B"/>
                </a:solidFill>
                <a:latin typeface="微软雅黑" panose="020B0503020204020204" charset="-122"/>
              </a:rPr>
              <a:t>会前24h</a:t>
            </a:r>
            <a:endParaRPr sz="10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11730" y="1284605"/>
            <a:ext cx="1800225" cy="2628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1E293B"/>
                </a:solidFill>
                <a:latin typeface="微软雅黑" panose="020B0503020204020204" charset="-122"/>
              </a:rPr>
              <a:t>会前10min</a:t>
            </a:r>
            <a:endParaRPr sz="10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83710" y="1284605"/>
            <a:ext cx="1800225" cy="2628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1E293B"/>
                </a:solidFill>
                <a:latin typeface="微软雅黑" panose="020B0503020204020204" charset="-122"/>
              </a:rPr>
              <a:t>会中60min</a:t>
            </a:r>
            <a:endParaRPr sz="10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55690" y="1284605"/>
            <a:ext cx="1800225" cy="2628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1E293B"/>
                </a:solidFill>
                <a:latin typeface="微软雅黑" panose="020B0503020204020204" charset="-122"/>
              </a:rPr>
              <a:t>会后5min</a:t>
            </a:r>
            <a:endParaRPr sz="10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28305" y="1284605"/>
            <a:ext cx="1800225" cy="2628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1E293B"/>
                </a:solidFill>
                <a:latin typeface="微软雅黑" panose="020B0503020204020204" charset="-122"/>
              </a:rPr>
              <a:t>会后两周</a:t>
            </a:r>
            <a:endParaRPr sz="10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900285" y="1284605"/>
            <a:ext cx="1800225" cy="2628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1E293B"/>
                </a:solidFill>
                <a:latin typeface="微软雅黑" panose="020B0503020204020204" charset="-122"/>
              </a:rPr>
              <a:t>下次会议</a:t>
            </a:r>
            <a:endParaRPr sz="10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2000" y="1747000"/>
            <a:ext cx="432000" cy="468000"/>
          </a:xfrm>
          <a:prstGeom prst="roundRect">
            <a:avLst>
              <a:gd name="adj" fmla="val 8000"/>
            </a:avLst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charset="-122"/>
              </a:rPr>
              <a:t>人的
动作</a:t>
            </a:r>
            <a:endParaRPr sz="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0000" y="1620000"/>
            <a:ext cx="1800000" cy="7200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 fontAlgn="ctr"/>
          </a:p>
        </p:txBody>
      </p:sp>
      <p:sp>
        <p:nvSpPr>
          <p:cNvPr id="17" name="TextBox 16"/>
          <p:cNvSpPr txBox="1"/>
          <p:nvPr/>
        </p:nvSpPr>
        <p:spPr>
          <a:xfrm>
            <a:off x="648000" y="1873003"/>
            <a:ext cx="1584000" cy="21399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 fontAlgn="ctr"/>
            <a:r>
              <a:rPr sz="800" b="1">
                <a:solidFill>
                  <a:srgbClr val="1E293B"/>
                </a:solidFill>
                <a:latin typeface="微软雅黑" panose="020B0503020204020204" charset="-122"/>
              </a:rPr>
              <a:t>无</a:t>
            </a:r>
            <a:endParaRPr sz="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412000" y="1620000"/>
            <a:ext cx="1800000" cy="7200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 fontAlgn="ctr"/>
          </a:p>
        </p:txBody>
      </p:sp>
      <p:sp>
        <p:nvSpPr>
          <p:cNvPr id="19" name="TextBox 18"/>
          <p:cNvSpPr txBox="1"/>
          <p:nvPr/>
        </p:nvSpPr>
        <p:spPr>
          <a:xfrm>
            <a:off x="2520000" y="1873610"/>
            <a:ext cx="1584000" cy="21399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 fontAlgn="ctr"/>
            <a:r>
              <a:rPr lang="en-US" sz="800" b="0">
                <a:solidFill>
                  <a:schemeClr val="accent4"/>
                </a:solidFill>
                <a:latin typeface="微软雅黑" panose="020B0503020204020204" charset="-122"/>
              </a:rPr>
              <a:t>7.</a:t>
            </a:r>
            <a:r>
              <a:rPr sz="800" b="0">
                <a:solidFill>
                  <a:schemeClr val="accent4"/>
                </a:solidFill>
                <a:latin typeface="微软雅黑" panose="020B0503020204020204" charset="-122"/>
              </a:rPr>
              <a:t>点</a:t>
            </a:r>
            <a:r>
              <a:rPr lang="zh-CN" sz="800" b="0">
                <a:solidFill>
                  <a:schemeClr val="accent4"/>
                </a:solidFill>
                <a:latin typeface="微软雅黑" panose="020B0503020204020204" charset="-122"/>
              </a:rPr>
              <a:t>卡片</a:t>
            </a:r>
            <a:r>
              <a:rPr sz="800" b="0">
                <a:solidFill>
                  <a:schemeClr val="accent4"/>
                </a:solidFill>
                <a:latin typeface="微软雅黑" panose="020B0503020204020204" charset="-122"/>
              </a:rPr>
              <a:t>签到</a:t>
            </a:r>
            <a:r>
              <a:rPr lang="en-US" sz="800" b="0">
                <a:solidFill>
                  <a:schemeClr val="accent4"/>
                </a:solidFill>
                <a:latin typeface="微软雅黑" panose="020B0503020204020204" charset="-122"/>
              </a:rPr>
              <a:t>&amp;</a:t>
            </a:r>
            <a:r>
              <a:rPr sz="800" b="0">
                <a:solidFill>
                  <a:schemeClr val="accent4"/>
                </a:solidFill>
                <a:latin typeface="微软雅黑" panose="020B0503020204020204" charset="-122"/>
              </a:rPr>
              <a:t>进入会议</a:t>
            </a:r>
            <a:endParaRPr sz="800" b="0">
              <a:solidFill>
                <a:schemeClr val="accent4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284000" y="1620000"/>
            <a:ext cx="1800000" cy="7200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 fontAlgn="ctr"/>
          </a:p>
        </p:txBody>
      </p:sp>
      <p:sp>
        <p:nvSpPr>
          <p:cNvPr id="21" name="TextBox 20"/>
          <p:cNvSpPr txBox="1"/>
          <p:nvPr/>
        </p:nvSpPr>
        <p:spPr>
          <a:xfrm>
            <a:off x="4392000" y="1873003"/>
            <a:ext cx="1584000" cy="21399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 fontAlgn="ctr"/>
            <a:r>
              <a:rPr lang="en-US" sz="800" b="0">
                <a:solidFill>
                  <a:schemeClr val="accent4"/>
                </a:solidFill>
                <a:latin typeface="微软雅黑" panose="020B0503020204020204" charset="-122"/>
              </a:rPr>
              <a:t>12.</a:t>
            </a:r>
            <a:r>
              <a:rPr lang="zh-CN" altLang="en-US" sz="800" b="0">
                <a:solidFill>
                  <a:schemeClr val="accent4"/>
                </a:solidFill>
                <a:latin typeface="微软雅黑" panose="020B0503020204020204" charset="-122"/>
              </a:rPr>
              <a:t>用户</a:t>
            </a:r>
            <a:r>
              <a:rPr sz="800" b="0">
                <a:solidFill>
                  <a:schemeClr val="accent4"/>
                </a:solidFill>
                <a:latin typeface="微软雅黑" panose="020B0503020204020204" charset="-122"/>
              </a:rPr>
              <a:t>发言决策</a:t>
            </a:r>
            <a:endParaRPr sz="800" b="0">
              <a:solidFill>
                <a:schemeClr val="accent4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56000" y="1620000"/>
            <a:ext cx="1800000" cy="7200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 fontAlgn="ctr"/>
          </a:p>
        </p:txBody>
      </p:sp>
      <p:sp>
        <p:nvSpPr>
          <p:cNvPr id="23" name="TextBox 22"/>
          <p:cNvSpPr txBox="1"/>
          <p:nvPr/>
        </p:nvSpPr>
        <p:spPr>
          <a:xfrm>
            <a:off x="6264000" y="1873003"/>
            <a:ext cx="1584000" cy="21399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 fontAlgn="ctr"/>
            <a:r>
              <a:rPr sz="800" b="1">
                <a:solidFill>
                  <a:srgbClr val="1E293B"/>
                </a:solidFill>
                <a:latin typeface="微软雅黑" panose="020B0503020204020204" charset="-122"/>
              </a:rPr>
              <a:t>无</a:t>
            </a:r>
            <a:endParaRPr sz="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028000" y="1620000"/>
            <a:ext cx="1800000" cy="7200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 fontAlgn="ctr"/>
          </a:p>
        </p:txBody>
      </p:sp>
      <p:sp>
        <p:nvSpPr>
          <p:cNvPr id="25" name="TextBox 24"/>
          <p:cNvSpPr txBox="1"/>
          <p:nvPr/>
        </p:nvSpPr>
        <p:spPr>
          <a:xfrm>
            <a:off x="8136000" y="1873610"/>
            <a:ext cx="1584000" cy="21399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 fontAlgn="ctr"/>
            <a:r>
              <a:rPr lang="en-US" altLang="zh-CN" sz="800" b="0">
                <a:solidFill>
                  <a:schemeClr val="accent4"/>
                </a:solidFill>
                <a:latin typeface="微软雅黑" panose="020B0503020204020204" charset="-122"/>
              </a:rPr>
              <a:t>21.</a:t>
            </a:r>
            <a:r>
              <a:rPr lang="zh-CN" sz="800" b="0">
                <a:solidFill>
                  <a:schemeClr val="accent4"/>
                </a:solidFill>
                <a:latin typeface="微软雅黑" panose="020B0503020204020204" charset="-122"/>
              </a:rPr>
              <a:t>确认待办</a:t>
            </a:r>
            <a:r>
              <a:rPr sz="800" b="0">
                <a:solidFill>
                  <a:schemeClr val="accent4"/>
                </a:solidFill>
                <a:latin typeface="微软雅黑" panose="020B0503020204020204" charset="-122"/>
              </a:rPr>
              <a:t>完成或</a:t>
            </a:r>
            <a:r>
              <a:rPr lang="zh-CN" sz="800" b="0">
                <a:solidFill>
                  <a:schemeClr val="accent4"/>
                </a:solidFill>
                <a:latin typeface="微软雅黑" panose="020B0503020204020204" charset="-122"/>
              </a:rPr>
              <a:t>申请</a:t>
            </a:r>
            <a:r>
              <a:rPr sz="800" b="0">
                <a:solidFill>
                  <a:schemeClr val="accent4"/>
                </a:solidFill>
                <a:latin typeface="微软雅黑" panose="020B0503020204020204" charset="-122"/>
              </a:rPr>
              <a:t>延期</a:t>
            </a:r>
            <a:endParaRPr sz="800" b="0">
              <a:solidFill>
                <a:schemeClr val="accent4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900000" y="1620000"/>
            <a:ext cx="1800000" cy="7200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 fontAlgn="ctr"/>
          </a:p>
        </p:txBody>
      </p:sp>
      <p:sp>
        <p:nvSpPr>
          <p:cNvPr id="27" name="TextBox 26"/>
          <p:cNvSpPr txBox="1"/>
          <p:nvPr/>
        </p:nvSpPr>
        <p:spPr>
          <a:xfrm>
            <a:off x="10008000" y="1873003"/>
            <a:ext cx="1584000" cy="21399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 fontAlgn="ctr"/>
            <a:r>
              <a:rPr sz="800" b="1">
                <a:solidFill>
                  <a:srgbClr val="1E293B"/>
                </a:solidFill>
                <a:latin typeface="微软雅黑" panose="020B0503020204020204" charset="-122"/>
              </a:rPr>
              <a:t>无</a:t>
            </a:r>
            <a:endParaRPr sz="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1755" y="2447925"/>
            <a:ext cx="431800" cy="2686050"/>
          </a:xfrm>
          <a:prstGeom prst="roundRect">
            <a:avLst>
              <a:gd name="adj" fmla="val 800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微软雅黑" panose="020B0503020204020204" charset="-122"/>
              </a:rPr>
              <a:t>系统
动作</a:t>
            </a:r>
            <a:endParaRPr sz="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39750" y="2447925"/>
            <a:ext cx="1800225" cy="26860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00"/>
          </a:p>
        </p:txBody>
      </p:sp>
      <p:sp>
        <p:nvSpPr>
          <p:cNvPr id="30" name="TextBox 29"/>
          <p:cNvSpPr txBox="1"/>
          <p:nvPr/>
        </p:nvSpPr>
        <p:spPr>
          <a:xfrm>
            <a:off x="612140" y="2520315"/>
            <a:ext cx="1656080" cy="254381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系统检测到「每周一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9:30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综合管理会」的周期（每周五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17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：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00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）到了，自动执行：</a:t>
            </a:r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1.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组织会议，本次会议事项清单从上周待办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+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群内新会序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+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用户告知（如有）自动归集。</a:t>
            </a:r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2.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飞书群弹出一张卡片：「📋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综合管理会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·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周一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9:30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」，列出议程、会议事项、参会人、上次待办完成率。</a:t>
            </a:r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3.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每位参会人收到「参加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/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请假」按钮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——24h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内不操作默认参加。</a:t>
            </a:r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4.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参会人张三点「请假」</a:t>
            </a:r>
            <a:r>
              <a:rPr lang="en-US" altLang="en-US" sz="700" b="0">
                <a:solidFill>
                  <a:srgbClr val="1E293B"/>
                </a:solidFill>
                <a:latin typeface="微软雅黑" panose="020B0503020204020204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系统判断非关键决策人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(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无相关会序涉及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) </a:t>
            </a:r>
            <a:r>
              <a:rPr lang="en-US" altLang="en-US" sz="700" b="0">
                <a:solidFill>
                  <a:srgbClr val="1E293B"/>
                </a:solidFill>
                <a:latin typeface="微软雅黑" panose="020B0503020204020204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记录，不阻断流程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,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参会人李四点「请假」</a:t>
            </a:r>
            <a:r>
              <a:rPr lang="en-US" altLang="en-US" sz="700" b="0">
                <a:solidFill>
                  <a:srgbClr val="1E293B"/>
                </a:solidFill>
                <a:latin typeface="微软雅黑" panose="020B0503020204020204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系统判断为关键决策人（组织者、主导者、有相关会序涉及）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en-US" altLang="en-US" sz="700" b="0">
                <a:solidFill>
                  <a:srgbClr val="1E293B"/>
                </a:solidFill>
                <a:latin typeface="微软雅黑" panose="020B0503020204020204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推送消息给会议组织人，确认会议是否延期。</a:t>
            </a:r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5.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确认率达标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en-US" altLang="en-US" sz="700" b="0">
                <a:solidFill>
                  <a:srgbClr val="1E293B"/>
                </a:solidFill>
                <a:latin typeface="微软雅黑" panose="020B0503020204020204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系统调飞书日历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API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创建日程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+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预约会议室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 +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把上次纪要链接附进邀约。</a:t>
            </a:r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6.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飞书日程推到所有人日历上。</a:t>
            </a:r>
            <a:endParaRPr lang="en-US" altLang="zh-CN" sz="7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411730" y="2447925"/>
            <a:ext cx="1800225" cy="26860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00"/>
          </a:p>
        </p:txBody>
      </p:sp>
      <p:sp>
        <p:nvSpPr>
          <p:cNvPr id="32" name="TextBox 31"/>
          <p:cNvSpPr txBox="1"/>
          <p:nvPr/>
        </p:nvSpPr>
        <p:spPr>
          <a:xfrm>
            <a:off x="2484120" y="2520315"/>
            <a:ext cx="1656080" cy="254381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7.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飞书群弹出「会前盘点卡片」：谁已签到、谁上次待办延期。</a:t>
            </a:r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283710" y="2447925"/>
            <a:ext cx="1800225" cy="26860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00"/>
          </a:p>
        </p:txBody>
      </p:sp>
      <p:sp>
        <p:nvSpPr>
          <p:cNvPr id="34" name="TextBox 33"/>
          <p:cNvSpPr txBox="1"/>
          <p:nvPr/>
        </p:nvSpPr>
        <p:spPr>
          <a:xfrm>
            <a:off x="4356100" y="2520315"/>
            <a:ext cx="1656080" cy="254381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AI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主持人开场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——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语音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播报：「会议开始，今天议程分为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x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项，分别为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xxx,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预计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xx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分钟。」</a:t>
            </a:r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9.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会议检点，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AI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主持人依次点名，统计参会人数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（完成）</a:t>
            </a:r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10. AI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主持人报上次待办：「上次会议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5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项待办，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3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项已完成，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1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项进行中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—xxxxxxxxxxx)</a:t>
            </a:r>
            <a:endParaRPr lang="en-US" altLang="zh-CN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11. AI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主持人切换到会序一：「现在进入会序一：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Q2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经营数据回顾，预计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15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分钟。」（完成）</a:t>
            </a:r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700" b="0">
                <a:solidFill>
                  <a:schemeClr val="accent4"/>
                </a:solidFill>
                <a:latin typeface="微软雅黑" panose="020B0503020204020204" charset="-122"/>
              </a:rPr>
              <a:t>12. </a:t>
            </a:r>
            <a:r>
              <a:rPr lang="zh-CN" altLang="en-US" sz="700">
                <a:solidFill>
                  <a:schemeClr val="accent4"/>
                </a:solidFill>
                <a:latin typeface="微软雅黑" panose="020B0503020204020204" charset="-122"/>
                <a:sym typeface="+mn-ea"/>
              </a:rPr>
              <a:t>用户</a:t>
            </a:r>
            <a:r>
              <a:rPr sz="700">
                <a:solidFill>
                  <a:schemeClr val="accent4"/>
                </a:solidFill>
                <a:latin typeface="微软雅黑" panose="020B0503020204020204" charset="-122"/>
                <a:sym typeface="+mn-ea"/>
              </a:rPr>
              <a:t>发言决策</a:t>
            </a:r>
            <a:endParaRPr sz="700">
              <a:solidFill>
                <a:schemeClr val="accent4"/>
              </a:solidFill>
              <a:latin typeface="微软雅黑" panose="020B0503020204020204" charset="-122"/>
              <a:sym typeface="+mn-ea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13. 14:29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，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AI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主持人提醒：「会序一还剩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1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分钟」，不加时则无需操作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(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提醒已完成，加时未开始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)</a:t>
            </a:r>
            <a:endParaRPr lang="en-US" altLang="zh-CN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14. 14:30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，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AI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主持人：「会序一时间到。」自动切到「下一会序」。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(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完成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)</a:t>
            </a:r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155690" y="2447925"/>
            <a:ext cx="1800225" cy="26860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00"/>
          </a:p>
        </p:txBody>
      </p:sp>
      <p:sp>
        <p:nvSpPr>
          <p:cNvPr id="36" name="TextBox 35"/>
          <p:cNvSpPr txBox="1"/>
          <p:nvPr/>
        </p:nvSpPr>
        <p:spPr>
          <a:xfrm>
            <a:off x="6228080" y="2520315"/>
            <a:ext cx="1656080" cy="254254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16.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发起人点「结束会议」</a:t>
            </a:r>
            <a:r>
              <a:rPr lang="en-US" altLang="en-US" sz="700" b="0">
                <a:solidFill>
                  <a:srgbClr val="1E293B"/>
                </a:solidFill>
                <a:latin typeface="微软雅黑" panose="020B0503020204020204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AI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主持人提送飞书：「会议结束，纪要生成中，感谢各位。」（完成）</a:t>
            </a:r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17.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系统自动：离线校正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en-US" altLang="en-US" sz="700" b="0">
                <a:solidFill>
                  <a:srgbClr val="1E293B"/>
                </a:solidFill>
                <a:latin typeface="微软雅黑" panose="020B0503020204020204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声纹识别补全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en-US" altLang="en-US" sz="700" b="0">
                <a:solidFill>
                  <a:srgbClr val="1E293B"/>
                </a:solidFill>
                <a:latin typeface="微软雅黑" panose="020B0503020204020204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LLM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生成结构化纪要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en-US" altLang="en-US" sz="700" b="0">
                <a:solidFill>
                  <a:srgbClr val="1E293B"/>
                </a:solidFill>
                <a:latin typeface="微软雅黑" panose="020B0503020204020204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创建飞书文档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en-US" altLang="en-US" sz="700" b="0">
                <a:solidFill>
                  <a:srgbClr val="1E293B"/>
                </a:solidFill>
                <a:latin typeface="微软雅黑" panose="020B0503020204020204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写入。（目前无声纹）</a:t>
            </a:r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18.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飞书群弹出：「</a:t>
            </a:r>
            <a:r>
              <a:rPr lang="en-US" altLang="en-US" sz="700" b="0">
                <a:solidFill>
                  <a:srgbClr val="1E293B"/>
                </a:solidFill>
                <a:latin typeface="微软雅黑" panose="020B0503020204020204" charset="-122"/>
              </a:rPr>
              <a:t>✅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纪要已生成」，含文档链接。（完成）</a:t>
            </a:r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19.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系统自动：从纪要提取待办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en-US" altLang="en-US" sz="700" b="0">
                <a:solidFill>
                  <a:srgbClr val="1E293B"/>
                </a:solidFill>
                <a:latin typeface="微软雅黑" panose="020B0503020204020204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匹配责任人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en-US" altLang="en-US" sz="700" b="0">
                <a:solidFill>
                  <a:srgbClr val="1E293B"/>
                </a:solidFill>
                <a:latin typeface="微软雅黑" panose="020B0503020204020204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创建飞书任务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en-US" altLang="en-US" sz="700" b="0">
                <a:solidFill>
                  <a:srgbClr val="1E293B"/>
                </a:solidFill>
                <a:latin typeface="微软雅黑" panose="020B0503020204020204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飞书群弹出：「📌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待办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3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项，已同步责任人」。（未开始）</a:t>
            </a:r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20.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张三飞书收到任务：「完成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项目重构方案，截止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5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月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20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日」。（未开始）</a:t>
            </a:r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028305" y="2447925"/>
            <a:ext cx="1800225" cy="26860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00"/>
          </a:p>
        </p:txBody>
      </p:sp>
      <p:sp>
        <p:nvSpPr>
          <p:cNvPr id="38" name="TextBox 37"/>
          <p:cNvSpPr txBox="1"/>
          <p:nvPr/>
        </p:nvSpPr>
        <p:spPr>
          <a:xfrm>
            <a:off x="8100060" y="2520315"/>
            <a:ext cx="1656080" cy="254254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endParaRPr lang="en-US" altLang="zh-CN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21. </a:t>
            </a:r>
            <a:r>
              <a:rPr lang="en-US" altLang="en-US" sz="700" b="0">
                <a:solidFill>
                  <a:srgbClr val="1E293B"/>
                </a:solidFill>
                <a:latin typeface="微软雅黑" panose="020B0503020204020204" charset="-122"/>
              </a:rPr>
              <a:t>①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每日飞书提醒张三，「</a:t>
            </a:r>
            <a:r>
              <a:rPr lang="en-US" altLang="en-US" sz="700" b="0">
                <a:solidFill>
                  <a:srgbClr val="1E293B"/>
                </a:solidFill>
                <a:latin typeface="微软雅黑" panose="020B0503020204020204" charset="-122"/>
              </a:rPr>
              <a:t>⏰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待办「项目重构方案」还剩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X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日；</a:t>
            </a:r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   </a:t>
            </a:r>
            <a:r>
              <a:rPr lang="en-US" altLang="en-US" sz="700" b="0">
                <a:solidFill>
                  <a:srgbClr val="1E293B"/>
                </a:solidFill>
                <a:latin typeface="微软雅黑" panose="020B0503020204020204" charset="-122"/>
              </a:rPr>
              <a:t>②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到期前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24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小时（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5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月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19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日）：张三飞书弹出：「</a:t>
            </a:r>
            <a:r>
              <a:rPr lang="en-US" altLang="en-US" sz="700" b="0">
                <a:solidFill>
                  <a:srgbClr val="1E293B"/>
                </a:solidFill>
                <a:latin typeface="微软雅黑" panose="020B0503020204020204" charset="-122"/>
              </a:rPr>
              <a:t>⏰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待「项目重构方案」还剩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24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小时」。确认是否「完成」或「申请延期」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,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若申请延期，则推送直属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领导。</a:t>
            </a:r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22. 5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月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20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日过了截止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en-US" altLang="en-US" sz="700" b="0">
                <a:solidFill>
                  <a:srgbClr val="1E293B"/>
                </a:solidFill>
                <a:latin typeface="微软雅黑" panose="020B0503020204020204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系统自动标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DELAYED </a:t>
            </a:r>
            <a:r>
              <a:rPr lang="en-US" altLang="en-US" sz="700" b="0">
                <a:solidFill>
                  <a:srgbClr val="1E293B"/>
                </a:solidFill>
                <a:latin typeface="微软雅黑" panose="020B0503020204020204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张三直属上级收到：「⚠</a:t>
            </a:r>
            <a:r>
              <a:rPr lang="en-US" altLang="en-US" sz="700" b="0">
                <a:solidFill>
                  <a:srgbClr val="1E293B"/>
                </a:solidFill>
                <a:latin typeface="微软雅黑" panose="020B0503020204020204" charset="-122"/>
              </a:rPr>
              <a:t>️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张三的「项目重构方案」待办已延期」。</a:t>
            </a:r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23. 5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月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22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日，下次综合管理会自动创建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en-US" altLang="en-US" sz="700" b="0">
                <a:solidFill>
                  <a:srgbClr val="1E293B"/>
                </a:solidFill>
                <a:latin typeface="微软雅黑" panose="020B0503020204020204" charset="-122"/>
              </a:rPr>
              <a:t>→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邀约中自动附带上次纪要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+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待办统计。</a:t>
            </a:r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900285" y="2447925"/>
            <a:ext cx="1800225" cy="26860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00"/>
          </a:p>
        </p:txBody>
      </p:sp>
      <p:sp>
        <p:nvSpPr>
          <p:cNvPr id="40" name="TextBox 39"/>
          <p:cNvSpPr txBox="1"/>
          <p:nvPr/>
        </p:nvSpPr>
        <p:spPr>
          <a:xfrm>
            <a:off x="9972040" y="2520315"/>
            <a:ext cx="1656080" cy="254254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24. AI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主持人开场：</a:t>
            </a:r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「上次会议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3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项待办：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2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项已完成，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1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项延期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——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张三的</a:t>
            </a:r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项目重构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方案，请说明。」</a:t>
            </a:r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700" b="0">
                <a:solidFill>
                  <a:srgbClr val="1E293B"/>
                </a:solidFill>
                <a:latin typeface="微软雅黑" panose="020B0503020204020204" charset="-122"/>
              </a:rPr>
              <a:t>25. </a:t>
            </a:r>
            <a:r>
              <a:rPr lang="zh-CN" altLang="en-US" sz="700" b="0">
                <a:solidFill>
                  <a:srgbClr val="1E293B"/>
                </a:solidFill>
                <a:latin typeface="微软雅黑" panose="020B0503020204020204" charset="-122"/>
              </a:rPr>
              <a:t>整个循环再次启动。没有待办被遗忘，没有决议被搁置。</a:t>
            </a:r>
            <a:endParaRPr lang="zh-CN" altLang="en-US" sz="7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2000" y="5295460"/>
            <a:ext cx="432000" cy="216000"/>
          </a:xfrm>
          <a:prstGeom prst="roundRect">
            <a:avLst>
              <a:gd name="adj" fmla="val 8000"/>
            </a:avLst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charset="-122"/>
              </a:rPr>
              <a:t>进度</a:t>
            </a:r>
            <a:endParaRPr sz="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40000" y="5295460"/>
            <a:ext cx="1800000" cy="216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0000" y="529546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A0A0A0"/>
                </a:solidFill>
                <a:latin typeface="微软雅黑" panose="020B0503020204020204" charset="-122"/>
              </a:rPr>
              <a:t>未开始</a:t>
            </a:r>
            <a:endParaRPr sz="700" b="1">
              <a:solidFill>
                <a:srgbClr val="A0A0A0"/>
              </a:solidFill>
              <a:latin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2412000" y="5295460"/>
            <a:ext cx="1800000" cy="216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12000" y="529546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A0A0A0"/>
                </a:solidFill>
                <a:latin typeface="微软雅黑" panose="020B0503020204020204" charset="-122"/>
              </a:rPr>
              <a:t>未开始</a:t>
            </a:r>
            <a:endParaRPr sz="700" b="1">
              <a:solidFill>
                <a:srgbClr val="A0A0A0"/>
              </a:solidFill>
              <a:latin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284000" y="5295460"/>
            <a:ext cx="1800000" cy="216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284000" y="5295460"/>
            <a:ext cx="1080000" cy="216000"/>
          </a:xfrm>
          <a:prstGeom prst="roundRect">
            <a:avLst>
              <a:gd name="adj" fmla="val 8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84000" y="529546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39C12"/>
                </a:solidFill>
                <a:latin typeface="微软雅黑" panose="020B0503020204020204" charset="-122"/>
              </a:rPr>
              <a:t>进行中</a:t>
            </a:r>
            <a:endParaRPr sz="700" b="1">
              <a:solidFill>
                <a:srgbClr val="F39C12"/>
              </a:solidFill>
              <a:latin typeface="微软雅黑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156000" y="5295460"/>
            <a:ext cx="1800000" cy="216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56000" y="5295460"/>
            <a:ext cx="630000" cy="216000"/>
          </a:xfrm>
          <a:prstGeom prst="roundRect">
            <a:avLst>
              <a:gd name="adj" fmla="val 8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56000" y="529546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39C12"/>
                </a:solidFill>
                <a:latin typeface="微软雅黑" panose="020B0503020204020204" charset="-122"/>
              </a:rPr>
              <a:t>进行中</a:t>
            </a:r>
            <a:endParaRPr sz="700" b="1">
              <a:solidFill>
                <a:srgbClr val="F39C12"/>
              </a:solidFill>
              <a:latin typeface="微软雅黑" panose="020B050302020402020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028000" y="5295460"/>
            <a:ext cx="1800000" cy="216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28000" y="529546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A0A0A0"/>
                </a:solidFill>
                <a:latin typeface="微软雅黑" panose="020B0503020204020204" charset="-122"/>
              </a:rPr>
              <a:t>未开始</a:t>
            </a:r>
            <a:endParaRPr sz="700" b="1">
              <a:solidFill>
                <a:srgbClr val="A0A0A0"/>
              </a:solidFill>
              <a:latin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9900000" y="5295460"/>
            <a:ext cx="1800000" cy="216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00000" y="529546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A0A0A0"/>
                </a:solidFill>
                <a:latin typeface="微软雅黑" panose="020B0503020204020204" charset="-122"/>
              </a:rPr>
              <a:t>未开始</a:t>
            </a:r>
            <a:endParaRPr sz="700" b="1">
              <a:solidFill>
                <a:srgbClr val="A0A0A0"/>
              </a:solidFill>
              <a:latin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40000" y="5400000"/>
            <a:ext cx="14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88888"/>
                </a:solidFill>
                <a:latin typeface="微软雅黑" panose="020B0503020204020204" charset="-122"/>
              </a:rPr>
              <a:t>整体进度</a:t>
            </a:r>
            <a:endParaRPr sz="800" b="1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540000" y="5580000"/>
            <a:ext cx="10440000" cy="144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40000" y="5580000"/>
            <a:ext cx="835200" cy="14400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375200" y="5580000"/>
            <a:ext cx="1252800" cy="144000"/>
          </a:xfrm>
          <a:prstGeom prst="roundRect">
            <a:avLst>
              <a:gd name="adj" fmla="val 8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628000" y="5580000"/>
            <a:ext cx="8352000" cy="144000"/>
          </a:xfrm>
          <a:prstGeom prst="roundRect">
            <a:avLst>
              <a:gd name="adj" fmla="val 8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40000" y="5868000"/>
            <a:ext cx="108000" cy="108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0000" y="5868000"/>
            <a:ext cx="72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E293B"/>
                </a:solidFill>
                <a:latin typeface="微软雅黑" panose="020B0503020204020204" charset="-122"/>
              </a:rPr>
              <a:t>已完成</a:t>
            </a:r>
            <a:endParaRPr sz="7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1800000" y="5868000"/>
            <a:ext cx="108000" cy="108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980000" y="5868000"/>
            <a:ext cx="108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E293B"/>
                </a:solidFill>
                <a:latin typeface="微软雅黑" panose="020B0503020204020204" charset="-122"/>
              </a:rPr>
              <a:t>进行中/开发中</a:t>
            </a:r>
            <a:endParaRPr sz="7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3240000" y="5868000"/>
            <a:ext cx="108000" cy="108000"/>
          </a:xfrm>
          <a:prstGeom prst="ellipse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20000" y="5868000"/>
            <a:ext cx="108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E293B"/>
                </a:solidFill>
                <a:latin typeface="微软雅黑" panose="020B0503020204020204" charset="-122"/>
              </a:rPr>
              <a:t>未开始</a:t>
            </a:r>
            <a:endParaRPr sz="7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40000" y="6300000"/>
            <a:ext cx="1080000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888888"/>
                </a:solidFill>
                <a:latin typeface="微软雅黑" panose="020B0503020204020204" charset="-122"/>
              </a:rPr>
              <a:t>会中60% / 会后35% / 会前0% / 跟踪0% | 整体</a:t>
            </a:r>
            <a:r>
              <a:rPr lang="en-US" sz="800">
                <a:solidFill>
                  <a:srgbClr val="888888"/>
                </a:solidFill>
                <a:latin typeface="微软雅黑" panose="020B0503020204020204" charset="-122"/>
              </a:rPr>
              <a:t>15</a:t>
            </a:r>
            <a:r>
              <a:rPr sz="800">
                <a:solidFill>
                  <a:srgbClr val="888888"/>
                </a:solidFill>
                <a:latin typeface="微软雅黑" panose="020B0503020204020204" charset="-122"/>
              </a:rPr>
              <a:t>%</a:t>
            </a:r>
            <a:endParaRPr sz="80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3525" y="179705"/>
            <a:ext cx="1409700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00000" y="288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C3E6B"/>
                </a:solidFill>
                <a:latin typeface="微软雅黑" panose="020B0503020204020204" charset="-122"/>
              </a:rPr>
              <a:t>02  功能进度矩阵</a:t>
            </a:r>
            <a:endParaRPr sz="2400" b="1">
              <a:solidFill>
                <a:srgbClr val="2C3E6B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00000" y="720000"/>
            <a:ext cx="90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 panose="020B0503020204020204" charset="-122"/>
              </a:rPr>
              <a:t>18个功能点按6个阶段拆解，一页看清&amp;ldquo;做到哪了&amp;rdquo;</a:t>
            </a:r>
            <a:endParaRPr sz="11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0000" y="1007565"/>
          <a:ext cx="10728000" cy="5507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972"/>
                <a:gridCol w="1085131"/>
                <a:gridCol w="1345643"/>
                <a:gridCol w="1161197"/>
                <a:gridCol w="1352375"/>
                <a:gridCol w="2458841"/>
                <a:gridCol w="2458841"/>
              </a:tblGrid>
              <a:tr h="255789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FFFFFF"/>
                          </a:solidFill>
                          <a:latin typeface="微软雅黑" panose="020B0503020204020204" charset="-122"/>
                          <a:sym typeface="+mn-ea"/>
                        </a:rPr>
                        <a:t>会议</a:t>
                      </a:r>
                      <a:r>
                        <a:rPr sz="1000">
                          <a:solidFill>
                            <a:srgbClr val="FFFFFF"/>
                          </a:solidFill>
                          <a:latin typeface="微软雅黑" panose="020B0503020204020204" charset="-122"/>
                          <a:sym typeface="+mn-ea"/>
                        </a:rPr>
                        <a:t>阶段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4B5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会议节点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4B5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功能点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4B5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状态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4B5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完成度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4B5E8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说明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4B5E8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完成时间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4B5E8F"/>
                    </a:solidFill>
                  </a:tcPr>
                </a:tc>
              </a:tr>
              <a:tr h="250825">
                <a:tc rowSpan="5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会前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会前24h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自动创建会议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0A0A0"/>
                          </a:solidFill>
                          <a:latin typeface="微软雅黑" panose="020B0503020204020204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5789">
                <a:tc vMerge="1"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会前24h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飞书邀约卡片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0A0A0"/>
                          </a:solidFill>
                          <a:latin typeface="微软雅黑" panose="020B0503020204020204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5789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会前24h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参会确认+关键人判断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0A0A0"/>
                          </a:solidFill>
                          <a:latin typeface="微软雅黑" panose="020B0503020204020204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5789">
                <a:tc vMerge="1"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会前24h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日历+会议室预约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0A0A0"/>
                          </a:solidFill>
                          <a:latin typeface="微软雅黑" panose="020B0503020204020204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5789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会前10min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盘点卡片+签到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0A0A0"/>
                          </a:solidFill>
                          <a:latin typeface="微软雅黑" panose="020B0503020204020204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5789">
                <a:tc rowSpan="9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会中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会中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AI自动开场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7AE60"/>
                          </a:solidFill>
                          <a:latin typeface="微软雅黑" panose="020B0503020204020204" charset="-122"/>
                        </a:rPr>
                        <a:t>已完成</a:t>
                      </a:r>
                      <a:endParaRPr sz="1000" b="1">
                        <a:solidFill>
                          <a:srgbClr val="27AE6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100%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2025-05-15</a:t>
                      </a:r>
                      <a:endParaRPr lang="en-US" altLang="zh-CN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5789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会中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会议检点点名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7AE60"/>
                          </a:solidFill>
                          <a:latin typeface="微软雅黑" panose="020B0503020204020204" charset="-122"/>
                        </a:rPr>
                        <a:t>已完成</a:t>
                      </a:r>
                      <a:endParaRPr sz="1000" b="1">
                        <a:solidFill>
                          <a:srgbClr val="27AE6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100%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rgbClr val="394958"/>
                          </a:solidFill>
                          <a:latin typeface="微软雅黑" panose="020B0503020204020204" charset="-122"/>
                          <a:sym typeface="+mn-ea"/>
                        </a:rPr>
                        <a:t>2025-05-15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5789">
                <a:tc vMerge="1"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会中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上次待办通报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C12"/>
                          </a:solidFill>
                          <a:latin typeface="微软雅黑" panose="020B0503020204020204" charset="-122"/>
                        </a:rPr>
                        <a:t>开发中</a:t>
                      </a:r>
                      <a:endParaRPr sz="1000" b="1">
                        <a:solidFill>
                          <a:srgbClr val="F39C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50%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rgbClr val="394958"/>
                          </a:solidFill>
                          <a:latin typeface="微软雅黑" panose="020B0503020204020204" charset="-122"/>
                          <a:sym typeface="+mn-ea"/>
                        </a:rPr>
                        <a:t>2025-05-22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5789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会中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自动</a:t>
                      </a:r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切换</a:t>
                      </a:r>
                      <a:r>
                        <a:rPr lang="zh-CN" sz="1000">
                          <a:solidFill>
                            <a:srgbClr val="394958"/>
                          </a:solidFill>
                          <a:latin typeface="微软雅黑" panose="020B0503020204020204" charset="-122"/>
                          <a:sym typeface="+mn-ea"/>
                        </a:rPr>
                        <a:t>会序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7AE60"/>
                          </a:solidFill>
                          <a:latin typeface="微软雅黑" panose="020B0503020204020204" charset="-122"/>
                        </a:rPr>
                        <a:t>已完成</a:t>
                      </a:r>
                      <a:endParaRPr sz="1000" b="1">
                        <a:solidFill>
                          <a:srgbClr val="27AE6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100%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rgbClr val="394958"/>
                          </a:solidFill>
                          <a:latin typeface="微软雅黑" panose="020B0503020204020204" charset="-122"/>
                          <a:sym typeface="+mn-ea"/>
                        </a:rPr>
                        <a:t>2025-05-15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5789">
                <a:tc vMerge="1">
                  <a:tcPr/>
                </a:tc>
                <a:tc>
                  <a:txBody>
                    <a:bodyPr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会中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文件跟随会序</a:t>
                      </a:r>
                      <a:r>
                        <a:rPr lang="zh-CN"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切换</a:t>
                      </a:r>
                      <a:endParaRPr lang="zh-CN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000" b="1">
                          <a:solidFill>
                            <a:srgbClr val="A0A0A0"/>
                          </a:solidFill>
                          <a:latin typeface="微软雅黑" panose="020B0503020204020204" charset="-122"/>
                          <a:sym typeface="+mn-ea"/>
                        </a:rPr>
                        <a:t>未开始</a:t>
                      </a:r>
                      <a:endParaRPr sz="1000" b="1">
                        <a:solidFill>
                          <a:srgbClr val="F39C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  <a:sym typeface="+mn-ea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5789">
                <a:tc vMerge="1"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会中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实时ASR+声纹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00" b="1">
                          <a:solidFill>
                            <a:srgbClr val="F39C12"/>
                          </a:solidFill>
                          <a:latin typeface="微软雅黑" panose="020B0503020204020204" charset="-122"/>
                        </a:rPr>
                        <a:t>开发</a:t>
                      </a:r>
                      <a:r>
                        <a:rPr sz="1000" b="1">
                          <a:solidFill>
                            <a:srgbClr val="F39C12"/>
                          </a:solidFill>
                          <a:latin typeface="微软雅黑" panose="020B0503020204020204" charset="-122"/>
                        </a:rPr>
                        <a:t>中</a:t>
                      </a:r>
                      <a:endParaRPr sz="1000" b="1">
                        <a:solidFill>
                          <a:srgbClr val="F39C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50%</a:t>
                      </a:r>
                      <a:endParaRPr 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5789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会中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议题时间提醒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C12"/>
                          </a:solidFill>
                          <a:latin typeface="微软雅黑" panose="020B0503020204020204" charset="-122"/>
                        </a:rPr>
                        <a:t>部分完成</a:t>
                      </a:r>
                      <a:endParaRPr sz="1000" b="1">
                        <a:solidFill>
                          <a:srgbClr val="F39C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50%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5789">
                <a:tc vMerge="1">
                  <a:tcPr/>
                </a:tc>
                <a:tc>
                  <a:txBody>
                    <a:bodyPr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会中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议题</a:t>
                      </a:r>
                      <a:r>
                        <a:rPr lang="zh-CN"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加时</a:t>
                      </a:r>
                      <a:endParaRPr lang="zh-CN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000" b="1">
                          <a:solidFill>
                            <a:srgbClr val="A0A0A0"/>
                          </a:solidFill>
                          <a:latin typeface="微软雅黑" panose="020B0503020204020204" charset="-122"/>
                          <a:sym typeface="+mn-ea"/>
                        </a:rPr>
                        <a:t>未开始</a:t>
                      </a:r>
                      <a:endParaRPr sz="1000" b="1">
                        <a:solidFill>
                          <a:srgbClr val="27AE6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  <a:sym typeface="+mn-ea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5789">
                <a:tc vMerge="1"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会中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议题超时自动切换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7AE60"/>
                          </a:solidFill>
                          <a:latin typeface="微软雅黑" panose="020B0503020204020204" charset="-122"/>
                        </a:rPr>
                        <a:t>已完成</a:t>
                      </a:r>
                      <a:endParaRPr sz="1000" b="1">
                        <a:solidFill>
                          <a:srgbClr val="27AE6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100%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rgbClr val="394958"/>
                          </a:solidFill>
                          <a:latin typeface="微软雅黑" panose="020B0503020204020204" charset="-122"/>
                          <a:sym typeface="+mn-ea"/>
                        </a:rPr>
                        <a:t>2025-05-15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5789">
                <a:tc rowSpan="5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会后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会后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结束播报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7AE60"/>
                          </a:solidFill>
                          <a:latin typeface="微软雅黑" panose="020B0503020204020204" charset="-122"/>
                        </a:rPr>
                        <a:t>已完成</a:t>
                      </a:r>
                      <a:endParaRPr sz="1000" b="1">
                        <a:solidFill>
                          <a:srgbClr val="27AE6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100%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rgbClr val="394958"/>
                          </a:solidFill>
                          <a:latin typeface="微软雅黑" panose="020B0503020204020204" charset="-122"/>
                          <a:sym typeface="+mn-ea"/>
                        </a:rPr>
                        <a:t>2025-05-15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5789">
                <a:tc vMerge="1"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会后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纪要生成+飞书文档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C12"/>
                          </a:solidFill>
                          <a:latin typeface="微软雅黑" panose="020B0503020204020204" charset="-122"/>
                        </a:rPr>
                        <a:t>进行中</a:t>
                      </a:r>
                      <a:endParaRPr sz="1000" b="1">
                        <a:solidFill>
                          <a:srgbClr val="F39C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70%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5789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会后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待办提取+飞书任务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0A0A0"/>
                          </a:solidFill>
                          <a:latin typeface="微软雅黑" panose="020B0503020204020204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5789">
                <a:tc vMerge="1"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会后两周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催办提醒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0A0A0"/>
                          </a:solidFill>
                          <a:latin typeface="微软雅黑" panose="020B0503020204020204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5789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会后两周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延期上报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0A0A0"/>
                          </a:solidFill>
                          <a:latin typeface="微软雅黑" panose="020B0503020204020204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5798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下次</a:t>
                      </a:r>
                      <a:r>
                        <a:rPr lang="zh-CN" altLang="en-US"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会议</a:t>
                      </a: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下次会议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闭环通报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0A0A0"/>
                          </a:solidFill>
                          <a:latin typeface="微软雅黑" panose="020B0503020204020204" charset="-122"/>
                        </a:rPr>
                        <a:t>未开始</a:t>
                      </a:r>
                      <a:endParaRPr sz="1000" b="1">
                        <a:solidFill>
                          <a:srgbClr val="A0A0A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94958"/>
                          </a:solidFill>
                          <a:latin typeface="微软雅黑" panose="020B0503020204020204" charset="-122"/>
                        </a:rPr>
                        <a:t>0%</a:t>
                      </a:r>
                      <a:endParaRPr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solidFill>
                          <a:srgbClr val="394958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95300" y="6409690"/>
            <a:ext cx="10800080" cy="3111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00BED6"/>
                </a:solidFill>
                <a:latin typeface="微软雅黑" panose="020B0503020204020204" charset="-122"/>
              </a:rPr>
              <a:t>&gt;&gt;&gt; 整体进度 20%。会中环节最成熟(7/7项有进展)，会前和会后跟踪为0，是下一阶段重点</a:t>
            </a:r>
            <a:endParaRPr sz="1300" b="1">
              <a:solidFill>
                <a:srgbClr val="00BED6"/>
              </a:solidFill>
              <a:latin typeface="微软雅黑" panose="020B050302020402020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2260" y="133350"/>
            <a:ext cx="1390015" cy="8743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67999" cy="1152000"/>
          </a:xfrm>
          <a:prstGeom prst="rect">
            <a:avLst/>
          </a:prstGeom>
          <a:solidFill>
            <a:srgbClr val="E8F0FE">
              <a:alpha val="9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80000"/>
            <a:ext cx="7200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3E6B"/>
                </a:solidFill>
                <a:latin typeface="微软雅黑" panose="020B0503020204020204" charset="-122"/>
              </a:rPr>
              <a:t>0</a:t>
            </a:r>
            <a:r>
              <a:rPr lang="en-US" sz="2200" b="1">
                <a:solidFill>
                  <a:srgbClr val="2C3E6B"/>
                </a:solidFill>
                <a:latin typeface="微软雅黑" panose="020B0503020204020204" charset="-122"/>
              </a:rPr>
              <a:t>3</a:t>
            </a:r>
            <a:r>
              <a:rPr sz="2200" b="1">
                <a:solidFill>
                  <a:srgbClr val="2C3E6B"/>
                </a:solidFill>
                <a:latin typeface="微软雅黑" panose="020B0503020204020204" charset="-122"/>
              </a:rPr>
              <a:t>  传统 vs 智能</a:t>
            </a:r>
            <a:endParaRPr sz="2200" b="1">
              <a:solidFill>
                <a:srgbClr val="2C3E6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0000" y="612000"/>
            <a:ext cx="100800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微软雅黑" panose="020B0503020204020204" charset="-122"/>
              </a:rPr>
              <a:t>5个维度对比——AI做掉了90%的会议运营工作，人的角色从操作者变为决策者</a:t>
            </a:r>
            <a:endParaRPr sz="10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0000" y="1368000"/>
            <a:ext cx="496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888888"/>
                </a:solidFill>
                <a:latin typeface="微软雅黑" panose="020B0503020204020204" charset="-122"/>
              </a:rPr>
              <a:t>传统会议</a:t>
            </a:r>
            <a:endParaRPr sz="1500" b="1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8000" y="1368000"/>
            <a:ext cx="496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5DFF"/>
                </a:solidFill>
                <a:latin typeface="微软雅黑" panose="020B0503020204020204" charset="-122"/>
              </a:rPr>
              <a:t>智能会议</a:t>
            </a:r>
            <a:endParaRPr sz="1500" b="1">
              <a:solidFill>
                <a:srgbClr val="165D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1"/>
            </p:custDataLst>
          </p:nvPr>
        </p:nvSpPr>
        <p:spPr>
          <a:xfrm>
            <a:off x="108000" y="1980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E293B"/>
                </a:solidFill>
                <a:latin typeface="微软雅黑" panose="020B0503020204020204" charset="-122"/>
              </a:rPr>
              <a:t>会前准备</a:t>
            </a:r>
            <a:endParaRPr sz="9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2"/>
            </p:custDataLst>
          </p:nvPr>
        </p:nvSpPr>
        <p:spPr>
          <a:xfrm>
            <a:off x="1007950" y="1800000"/>
            <a:ext cx="4968000" cy="7200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1080000" y="1872000"/>
            <a:ext cx="460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 panose="020B0503020204020204" charset="-122"/>
              </a:rPr>
              <a:t>人工发邀约、手动预约会议室</a:t>
            </a:r>
            <a:endParaRPr sz="9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8000" y="1800000"/>
            <a:ext cx="4968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4"/>
            </p:custDataLst>
          </p:nvPr>
        </p:nvSpPr>
        <p:spPr>
          <a:xfrm>
            <a:off x="6408000" y="1800000"/>
            <a:ext cx="54000" cy="72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4000" y="1872000"/>
            <a:ext cx="453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微软雅黑" panose="020B0503020204020204" charset="-122"/>
              </a:rPr>
              <a:t>系统自动创建会议+邀约卡片
参会确认+关键人判断+日历预约</a:t>
            </a:r>
            <a:endParaRPr sz="85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124000" y="2015999"/>
            <a:ext cx="144000" cy="144000"/>
          </a:xfrm>
          <a:prstGeom prst="ellipse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5"/>
            </p:custDataLst>
          </p:nvPr>
        </p:nvSpPr>
        <p:spPr>
          <a:xfrm>
            <a:off x="108000" y="2880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E293B"/>
                </a:solidFill>
                <a:latin typeface="微软雅黑" panose="020B0503020204020204" charset="-122"/>
              </a:rPr>
              <a:t>会中主持</a:t>
            </a:r>
            <a:endParaRPr sz="9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6"/>
            </p:custDataLst>
          </p:nvPr>
        </p:nvSpPr>
        <p:spPr>
          <a:xfrm>
            <a:off x="1007950" y="2700000"/>
            <a:ext cx="4968000" cy="7200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7"/>
            </p:custDataLst>
          </p:nvPr>
        </p:nvSpPr>
        <p:spPr>
          <a:xfrm>
            <a:off x="1080000" y="2772000"/>
            <a:ext cx="460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 panose="020B0503020204020204" charset="-122"/>
              </a:rPr>
              <a:t>人工主持、人工计时、
人工记录会议内容</a:t>
            </a:r>
            <a:endParaRPr sz="9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8000" y="2700000"/>
            <a:ext cx="4968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>
            <p:custDataLst>
              <p:tags r:id="rId8"/>
            </p:custDataLst>
          </p:nvPr>
        </p:nvSpPr>
        <p:spPr>
          <a:xfrm>
            <a:off x="6408000" y="2700000"/>
            <a:ext cx="54000" cy="72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4000" y="2772000"/>
            <a:ext cx="4536000" cy="48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微软雅黑" panose="020B0503020204020204" charset="-122"/>
              </a:rPr>
              <a:t>AI自动开场+主持+点名
实时ASR转写+声纹分离
计时提醒+超时自动切换会序</a:t>
            </a:r>
            <a:endParaRPr sz="85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1124000" y="2916000"/>
            <a:ext cx="144000" cy="144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9"/>
            </p:custDataLst>
          </p:nvPr>
        </p:nvSpPr>
        <p:spPr>
          <a:xfrm>
            <a:off x="108000" y="3780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E293B"/>
                </a:solidFill>
                <a:latin typeface="微软雅黑" panose="020B0503020204020204" charset="-122"/>
              </a:rPr>
              <a:t>会后整理</a:t>
            </a:r>
            <a:endParaRPr sz="9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>
            <p:custDataLst>
              <p:tags r:id="rId10"/>
            </p:custDataLst>
          </p:nvPr>
        </p:nvSpPr>
        <p:spPr>
          <a:xfrm>
            <a:off x="1007950" y="3600000"/>
            <a:ext cx="4968000" cy="7200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11"/>
            </p:custDataLst>
          </p:nvPr>
        </p:nvSpPr>
        <p:spPr>
          <a:xfrm>
            <a:off x="1080000" y="3671999"/>
            <a:ext cx="460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 panose="020B0503020204020204" charset="-122"/>
              </a:rPr>
              <a:t>人工整理纪要、
手动分发给参会人</a:t>
            </a:r>
            <a:endParaRPr sz="9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08000" y="3600000"/>
            <a:ext cx="4968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>
            <p:custDataLst>
              <p:tags r:id="rId12"/>
            </p:custDataLst>
          </p:nvPr>
        </p:nvSpPr>
        <p:spPr>
          <a:xfrm>
            <a:off x="6408000" y="3600000"/>
            <a:ext cx="54000" cy="720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4000" y="3671999"/>
            <a:ext cx="453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微软雅黑" panose="020B0503020204020204" charset="-122"/>
              </a:rPr>
              <a:t>离线校正+LLM生成结构化纪要
自动创建飞书文档+群内推送</a:t>
            </a:r>
            <a:endParaRPr sz="85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11124000" y="3816000"/>
            <a:ext cx="144000" cy="144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>
            <p:custDataLst>
              <p:tags r:id="rId13"/>
            </p:custDataLst>
          </p:nvPr>
        </p:nvSpPr>
        <p:spPr>
          <a:xfrm>
            <a:off x="108000" y="4680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E293B"/>
                </a:solidFill>
                <a:latin typeface="微软雅黑" panose="020B0503020204020204" charset="-122"/>
              </a:rPr>
              <a:t>待办跟踪</a:t>
            </a:r>
            <a:endParaRPr sz="9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>
            <p:custDataLst>
              <p:tags r:id="rId14"/>
            </p:custDataLst>
          </p:nvPr>
        </p:nvSpPr>
        <p:spPr>
          <a:xfrm>
            <a:off x="1007950" y="4499365"/>
            <a:ext cx="4968000" cy="7200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>
            <p:custDataLst>
              <p:tags r:id="rId15"/>
            </p:custDataLst>
          </p:nvPr>
        </p:nvSpPr>
        <p:spPr>
          <a:xfrm>
            <a:off x="1080000" y="4572000"/>
            <a:ext cx="460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 panose="020B0503020204020204" charset="-122"/>
              </a:rPr>
              <a:t>靠人记忆、靠人催办
容易遗漏和遗忘</a:t>
            </a:r>
            <a:endParaRPr sz="9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408000" y="4500000"/>
            <a:ext cx="4968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>
            <p:custDataLst>
              <p:tags r:id="rId16"/>
            </p:custDataLst>
          </p:nvPr>
        </p:nvSpPr>
        <p:spPr>
          <a:xfrm>
            <a:off x="6408000" y="4500000"/>
            <a:ext cx="54000" cy="72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4000" y="4572000"/>
            <a:ext cx="453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微软雅黑" panose="020B0503020204020204" charset="-122"/>
              </a:rPr>
              <a:t>自动从纪要提取待办+匹配责任人
每日飞书提醒+到期催办+延期上报</a:t>
            </a:r>
            <a:endParaRPr sz="85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1124000" y="4716000"/>
            <a:ext cx="144000" cy="144000"/>
          </a:xfrm>
          <a:prstGeom prst="ellipse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>
            <p:custDataLst>
              <p:tags r:id="rId17"/>
            </p:custDataLst>
          </p:nvPr>
        </p:nvSpPr>
        <p:spPr>
          <a:xfrm>
            <a:off x="108000" y="5580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E293B"/>
                </a:solidFill>
                <a:latin typeface="微软雅黑" panose="020B0503020204020204" charset="-122"/>
              </a:rPr>
              <a:t>会议闭环</a:t>
            </a:r>
            <a:endParaRPr sz="9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>
            <p:custDataLst>
              <p:tags r:id="rId18"/>
            </p:custDataLst>
          </p:nvPr>
        </p:nvSpPr>
        <p:spPr>
          <a:xfrm>
            <a:off x="1007950" y="5400000"/>
            <a:ext cx="4968000" cy="7200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>
            <p:custDataLst>
              <p:tags r:id="rId19"/>
            </p:custDataLst>
          </p:nvPr>
        </p:nvSpPr>
        <p:spPr>
          <a:xfrm>
            <a:off x="1080000" y="5472000"/>
            <a:ext cx="460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 panose="020B0503020204020204" charset="-122"/>
              </a:rPr>
              <a:t>开完就散，下次从头来
上次决议无人跟进</a:t>
            </a:r>
            <a:endParaRPr sz="9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408000" y="5400000"/>
            <a:ext cx="4968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>
            <p:custDataLst>
              <p:tags r:id="rId20"/>
            </p:custDataLst>
          </p:nvPr>
        </p:nvSpPr>
        <p:spPr>
          <a:xfrm>
            <a:off x="6408000" y="5400000"/>
            <a:ext cx="54000" cy="720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4000" y="5472000"/>
            <a:ext cx="453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微软雅黑" panose="020B0503020204020204" charset="-122"/>
              </a:rPr>
              <a:t>每次会议承接上次待办
自动通报完成率+延期情况
永不遗忘、永续循环</a:t>
            </a:r>
            <a:endParaRPr sz="85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1124000" y="5616000"/>
            <a:ext cx="144000" cy="144000"/>
          </a:xfrm>
          <a:prstGeom prst="ellipse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095" y="6235955"/>
            <a:ext cx="108000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BED6"/>
                </a:solidFill>
                <a:latin typeface="微软雅黑" panose="020B0503020204020204" charset="-122"/>
              </a:rPr>
              <a:t>&gt;&gt;&gt; 用户从操作者变成决策者：只需到场+发言+完成/延期，其余全部由AI接管</a:t>
            </a:r>
            <a:endParaRPr sz="1300" b="1">
              <a:solidFill>
                <a:srgbClr val="00BED6"/>
              </a:solidFill>
              <a:latin typeface="微软雅黑" panose="020B0503020204020204" charset="-122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96220" y="179705"/>
            <a:ext cx="1612265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900000" y="126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对用户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00000" y="1728000"/>
            <a:ext cx="720000" cy="432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0000" y="1943999"/>
            <a:ext cx="180000" cy="18000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0000" y="1943999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panose="020B0503020204020204" charset="-122"/>
              </a:rPr>
              <a:t>1</a:t>
            </a:r>
            <a:endParaRPr sz="900" b="1">
              <a:solidFill>
                <a:schemeClr val="bg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8000" y="190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开会前不用准备（全自动）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900000" y="2520000"/>
            <a:ext cx="180000" cy="18000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00000" y="2520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panose="020B0503020204020204" charset="-122"/>
              </a:rPr>
              <a:t>2</a:t>
            </a:r>
            <a:endParaRPr sz="900" b="1">
              <a:solidFill>
                <a:schemeClr val="bg1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88000" y="248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开会时只管说话和决策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00000" y="3096000"/>
            <a:ext cx="180000" cy="18000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0000" y="3096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panose="020B0503020204020204" charset="-122"/>
              </a:rPr>
              <a:t>3</a:t>
            </a:r>
            <a:endParaRPr sz="900" b="1">
              <a:solidFill>
                <a:schemeClr val="bg1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8000" y="306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开完会不用整理纪要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900000" y="3672000"/>
            <a:ext cx="180000" cy="18000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0000" y="3672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panose="020B0503020204020204" charset="-122"/>
              </a:rPr>
              <a:t>4</a:t>
            </a:r>
            <a:endParaRPr sz="900" b="1">
              <a:solidFill>
                <a:schemeClr val="bg1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88000" y="3636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待办自动找人、催、跟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00000" y="126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对组织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00000" y="1728000"/>
            <a:ext cx="720000" cy="43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00000" y="1943999"/>
            <a:ext cx="180000" cy="180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00000" y="1943999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panose="020B0503020204020204" charset="-122"/>
              </a:rPr>
              <a:t>1</a:t>
            </a:r>
            <a:endParaRPr sz="900" b="1">
              <a:solidFill>
                <a:schemeClr val="bg1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88000" y="190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每次会议都对上次有交代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500000" y="2520000"/>
            <a:ext cx="180000" cy="180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00000" y="2520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panose="020B0503020204020204" charset="-122"/>
              </a:rPr>
              <a:t>2</a:t>
            </a:r>
            <a:endParaRPr sz="900" b="1">
              <a:solidFill>
                <a:schemeClr val="bg1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88000" y="248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每个决议都有人跟到底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500000" y="3096000"/>
            <a:ext cx="180000" cy="180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00000" y="3096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panose="020B0503020204020204" charset="-122"/>
              </a:rPr>
              <a:t>3</a:t>
            </a:r>
            <a:endParaRPr sz="900" b="1">
              <a:solidFill>
                <a:schemeClr val="bg1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88000" y="306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不再有开会/执行断层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500000" y="3672000"/>
            <a:ext cx="180000" cy="180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00000" y="3672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panose="020B0503020204020204" charset="-122"/>
              </a:rPr>
              <a:t>4</a:t>
            </a:r>
            <a:endParaRPr sz="900" b="1">
              <a:solidFill>
                <a:schemeClr val="bg1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88000" y="3636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会议资产可追溯、可复用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100000" y="126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对效率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100000" y="1728000"/>
            <a:ext cx="720000" cy="43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00000" y="1943999"/>
            <a:ext cx="180000" cy="1800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100000" y="1943999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panose="020B0503020204020204" charset="-122"/>
              </a:rPr>
              <a:t>1</a:t>
            </a:r>
            <a:endParaRPr sz="900" b="1">
              <a:solidFill>
                <a:schemeClr val="bg1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88000" y="190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AI做掉90%运营工作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8100000" y="2520000"/>
            <a:ext cx="180000" cy="1800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100000" y="2520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panose="020B0503020204020204" charset="-122"/>
              </a:rPr>
              <a:t>2</a:t>
            </a:r>
            <a:endParaRPr sz="900" b="1">
              <a:solidFill>
                <a:schemeClr val="bg1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388000" y="248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纪要5分钟自动生成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8100000" y="3096000"/>
            <a:ext cx="180000" cy="1800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100000" y="3096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panose="020B0503020204020204" charset="-122"/>
              </a:rPr>
              <a:t>3</a:t>
            </a:r>
            <a:endParaRPr sz="900" b="1">
              <a:solidFill>
                <a:schemeClr val="bg1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88000" y="306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待办不再被遗忘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8100000" y="3672000"/>
            <a:ext cx="180000" cy="1800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100000" y="3672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chemeClr val="bg1"/>
                </a:solidFill>
                <a:latin typeface="微软雅黑" panose="020B0503020204020204" charset="-122"/>
              </a:rPr>
              <a:t>4</a:t>
            </a:r>
            <a:endParaRPr sz="900" b="1">
              <a:solidFill>
                <a:schemeClr val="bg1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388000" y="3636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新人无需交接即可上手</a:t>
            </a:r>
            <a:endParaRPr sz="1100" b="0">
              <a:solidFill>
                <a:schemeClr val="tx2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00000" y="4680000"/>
            <a:ext cx="10080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微软雅黑" panose="020B0503020204020204" charset="-122"/>
              </a:rPr>
              <a:t>人只需要到场、发言、决策</a:t>
            </a:r>
            <a:endParaRPr sz="24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00000" y="532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B4D0"/>
                </a:solidFill>
                <a:latin typeface="微软雅黑" panose="020B0503020204020204" charset="-122"/>
              </a:rPr>
              <a:t>从会议发起到待办落地跟踪，全链路无人值守</a:t>
            </a:r>
            <a:endParaRPr sz="1300" b="0">
              <a:solidFill>
                <a:srgbClr val="A0B4D0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00000" y="6048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谢谢！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00000" y="6048000"/>
            <a:ext cx="576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微软雅黑" panose="020B0503020204020204" charset="-122"/>
              </a:rPr>
              <a:t>智能会议</a:t>
            </a:r>
            <a:r>
              <a:rPr lang="en-US" sz="1100" b="0">
                <a:solidFill>
                  <a:srgbClr val="888888"/>
                </a:solidFill>
                <a:latin typeface="微软雅黑" panose="020B0503020204020204" charset="-122"/>
              </a:rPr>
              <a:t> </a:t>
            </a:r>
            <a:r>
              <a:rPr sz="1100" b="0">
                <a:solidFill>
                  <a:srgbClr val="888888"/>
                </a:solidFill>
                <a:latin typeface="微软雅黑" panose="020B0503020204020204" charset="-122"/>
              </a:rPr>
              <a:t>/ 让每一场会议都有交代</a:t>
            </a:r>
            <a:endParaRPr sz="11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6540" y="96520"/>
            <a:ext cx="1480820" cy="1047750"/>
          </a:xfrm>
          <a:prstGeom prst="rect">
            <a:avLst/>
          </a:prstGeom>
        </p:spPr>
      </p:pic>
      <p:sp>
        <p:nvSpPr>
          <p:cNvPr id="51" name="TextBox 4"/>
          <p:cNvSpPr txBox="1"/>
          <p:nvPr/>
        </p:nvSpPr>
        <p:spPr>
          <a:xfrm>
            <a:off x="720000" y="180000"/>
            <a:ext cx="7200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3E6B"/>
                </a:solidFill>
                <a:latin typeface="微软雅黑" panose="020B0503020204020204" charset="-122"/>
              </a:rPr>
              <a:t>0</a:t>
            </a:r>
            <a:r>
              <a:rPr lang="en-US" sz="2200" b="1">
                <a:solidFill>
                  <a:srgbClr val="2C3E6B"/>
                </a:solidFill>
                <a:latin typeface="微软雅黑" panose="020B0503020204020204" charset="-122"/>
              </a:rPr>
              <a:t>3</a:t>
            </a:r>
            <a:r>
              <a:rPr sz="2200" b="1">
                <a:solidFill>
                  <a:srgbClr val="2C3E6B"/>
                </a:solidFill>
                <a:latin typeface="微软雅黑" panose="020B0503020204020204" charset="-122"/>
              </a:rPr>
              <a:t>  传统 vs 智能</a:t>
            </a:r>
            <a:endParaRPr sz="2200" b="1">
              <a:solidFill>
                <a:srgbClr val="2C3E6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67999" cy="1152000"/>
          </a:xfrm>
          <a:prstGeom prst="rect">
            <a:avLst/>
          </a:prstGeom>
          <a:solidFill>
            <a:srgbClr val="E8F0FE">
              <a:alpha val="9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80000"/>
            <a:ext cx="7200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3E6B"/>
                </a:solidFill>
                <a:latin typeface="微软雅黑" panose="020B0503020204020204" charset="-122"/>
              </a:rPr>
              <a:t>0</a:t>
            </a:r>
            <a:r>
              <a:rPr lang="en-US" sz="2200" b="1">
                <a:solidFill>
                  <a:srgbClr val="2C3E6B"/>
                </a:solidFill>
                <a:latin typeface="微软雅黑" panose="020B0503020204020204" charset="-122"/>
              </a:rPr>
              <a:t>4</a:t>
            </a:r>
            <a:r>
              <a:rPr sz="2200" b="1">
                <a:solidFill>
                  <a:srgbClr val="2C3E6B"/>
                </a:solidFill>
                <a:latin typeface="微软雅黑" panose="020B0503020204020204" charset="-122"/>
              </a:rPr>
              <a:t>  后续计划</a:t>
            </a:r>
            <a:endParaRPr sz="2200" b="1">
              <a:solidFill>
                <a:srgbClr val="2C3E6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0000" y="612000"/>
            <a:ext cx="10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微软雅黑" panose="020B0503020204020204" charset="-122"/>
              </a:rPr>
              <a:t>分两阶段推进：2个月内补齐核心缺陷，6个月内完成全链路无人值守闭环</a:t>
            </a:r>
            <a:endParaRPr sz="10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831080" y="2836565"/>
            <a:ext cx="10080000" cy="0"/>
          </a:xfrm>
          <a:prstGeom prst="line">
            <a:avLst/>
          </a:prstGeom>
          <a:ln w="254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911080" y="2692565"/>
            <a:ext cx="288000" cy="28800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1080" y="3124565"/>
            <a:ext cx="14400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2026年</a:t>
            </a:r>
            <a:r>
              <a:rPr lang="en-US" sz="1000" b="1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7</a:t>
            </a:r>
            <a:r>
              <a:rPr sz="1000" b="1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月</a:t>
            </a:r>
            <a:endParaRPr sz="1000" b="1">
              <a:solidFill>
                <a:schemeClr val="tx2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31215" y="3412490"/>
            <a:ext cx="2520315" cy="777875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360" y="3412490"/>
            <a:ext cx="2232025" cy="76454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ctr">
              <a:lnSpc>
                <a:spcPts val="975"/>
              </a:lnSpc>
              <a:spcAft>
                <a:spcPts val="200"/>
              </a:spcAft>
            </a:pPr>
            <a:r>
              <a:rPr sz="750" b="1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charset="-122"/>
                <a:sym typeface="+mn-ea"/>
              </a:rPr>
              <a:t>全链路闭环</a:t>
            </a:r>
            <a:endParaRPr sz="750" b="1">
              <a:solidFill>
                <a:schemeClr val="tx2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  <a:p>
            <a:pPr algn="ctr">
              <a:lnSpc>
                <a:spcPts val="975"/>
              </a:lnSpc>
              <a:spcAft>
                <a:spcPts val="200"/>
              </a:spcAft>
            </a:pPr>
            <a:endParaRPr sz="750" b="0">
              <a:solidFill>
                <a:schemeClr val="tx2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  <a:p>
            <a:pPr algn="ctr">
              <a:lnSpc>
                <a:spcPts val="975"/>
              </a:lnSpc>
              <a:spcAft>
                <a:spcPts val="200"/>
              </a:spcAft>
            </a:pPr>
            <a:r>
              <a:rPr lang="zh-CN" sz="750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charset="-122"/>
                <a:sym typeface="+mn-ea"/>
              </a:rPr>
              <a:t>会议</a:t>
            </a:r>
            <a:r>
              <a:rPr sz="750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charset="-122"/>
                <a:sym typeface="+mn-ea"/>
              </a:rPr>
              <a:t>全链路闭环完成</a:t>
            </a:r>
            <a:endParaRPr sz="750" b="0">
              <a:solidFill>
                <a:schemeClr val="tx2">
                  <a:lumMod val="50000"/>
                  <a:lumOff val="50000"/>
                </a:schemeClr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122405" y="2693200"/>
            <a:ext cx="288000" cy="288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46210" y="3160125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9C12"/>
                </a:solidFill>
                <a:latin typeface="微软雅黑" panose="020B0503020204020204" charset="-122"/>
              </a:rPr>
              <a:t>2026年10月</a:t>
            </a:r>
            <a:endParaRPr sz="1000" b="1">
              <a:solidFill>
                <a:srgbClr val="F39C12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06340" y="3448050"/>
            <a:ext cx="2520315" cy="77724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3805" y="3483610"/>
            <a:ext cx="2482850" cy="729615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ctr"/>
            <a:r>
              <a:rPr lang="en-US" sz="750">
                <a:solidFill>
                  <a:schemeClr val="accent4"/>
                </a:solidFill>
                <a:latin typeface="微软雅黑" panose="020B0503020204020204" charset="-122"/>
                <a:sym typeface="+mn-ea"/>
              </a:rPr>
              <a:t>1.</a:t>
            </a:r>
            <a:r>
              <a:rPr lang="zh-CN" altLang="en-US" sz="750">
                <a:solidFill>
                  <a:schemeClr val="accent4"/>
                </a:solidFill>
                <a:latin typeface="微软雅黑" panose="020B0503020204020204" charset="-122"/>
                <a:sym typeface="+mn-ea"/>
              </a:rPr>
              <a:t>智能会议细节打磨，由</a:t>
            </a:r>
            <a:r>
              <a:rPr lang="zh-CN" altLang="en-US" sz="750">
                <a:solidFill>
                  <a:schemeClr val="accent4"/>
                </a:solidFill>
                <a:latin typeface="微软雅黑" panose="020B0503020204020204" charset="-122"/>
                <a:sym typeface="+mn-ea"/>
              </a:rPr>
              <a:t>能用变为好用</a:t>
            </a:r>
            <a:endParaRPr sz="750">
              <a:solidFill>
                <a:schemeClr val="accent4"/>
              </a:solidFill>
              <a:latin typeface="微软雅黑" panose="020B0503020204020204" charset="-122"/>
              <a:sym typeface="+mn-ea"/>
            </a:endParaRPr>
          </a:p>
          <a:p>
            <a:pPr algn="ctr"/>
            <a:r>
              <a:rPr sz="750">
                <a:solidFill>
                  <a:schemeClr val="accent4"/>
                </a:solidFill>
                <a:latin typeface="微软雅黑" panose="020B0503020204020204" charset="-122"/>
                <a:sym typeface="+mn-ea"/>
              </a:rPr>
              <a:t>
</a:t>
            </a:r>
            <a:r>
              <a:rPr lang="en-US" sz="750">
                <a:solidFill>
                  <a:schemeClr val="accent4"/>
                </a:solidFill>
                <a:latin typeface="微软雅黑" panose="020B0503020204020204" charset="-122"/>
                <a:sym typeface="+mn-ea"/>
              </a:rPr>
              <a:t>2.</a:t>
            </a:r>
            <a:r>
              <a:rPr lang="zh-CN" altLang="en-US" sz="750">
                <a:solidFill>
                  <a:schemeClr val="accent4"/>
                </a:solidFill>
                <a:latin typeface="微软雅黑" panose="020B0503020204020204" charset="-122"/>
                <a:sym typeface="+mn-ea"/>
              </a:rPr>
              <a:t>业务</a:t>
            </a:r>
            <a:r>
              <a:rPr lang="zh-CN" altLang="en-US" sz="750">
                <a:solidFill>
                  <a:schemeClr val="accent4"/>
                </a:solidFill>
                <a:latin typeface="微软雅黑" panose="020B0503020204020204" charset="-122"/>
                <a:sym typeface="+mn-ea"/>
              </a:rPr>
              <a:t>串联，多场景</a:t>
            </a:r>
            <a:r>
              <a:rPr lang="zh-CN" altLang="en-US" sz="750">
                <a:solidFill>
                  <a:schemeClr val="accent4"/>
                </a:solidFill>
                <a:latin typeface="微软雅黑" panose="020B0503020204020204" charset="-122"/>
                <a:sym typeface="+mn-ea"/>
              </a:rPr>
              <a:t>打通</a:t>
            </a:r>
            <a:endParaRPr lang="zh-CN" altLang="en-US" sz="750">
              <a:solidFill>
                <a:schemeClr val="accent4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0763760" y="2693200"/>
            <a:ext cx="288000" cy="2880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33920" y="3125835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88888"/>
                </a:solidFill>
                <a:latin typeface="微软雅黑" panose="020B0503020204020204" charset="-122"/>
              </a:rPr>
              <a:t>2027年+</a:t>
            </a:r>
            <a:endParaRPr sz="1000" b="1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193655" y="3450590"/>
            <a:ext cx="1479550" cy="6191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zh-CN" sz="1500" b="0">
                <a:solidFill>
                  <a:srgbClr val="888888"/>
                </a:solidFill>
                <a:latin typeface="微软雅黑" panose="020B0503020204020204" charset="-122"/>
              </a:rPr>
              <a:t>智能中枢</a:t>
            </a:r>
            <a:r>
              <a:rPr lang="zh-CN" sz="1500" b="0">
                <a:solidFill>
                  <a:srgbClr val="888888"/>
                </a:solidFill>
                <a:latin typeface="微软雅黑" panose="020B0503020204020204" charset="-122"/>
              </a:rPr>
              <a:t>建设完成</a:t>
            </a:r>
            <a:endParaRPr lang="zh-CN" sz="15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7180" y="104140"/>
            <a:ext cx="1480820" cy="10477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64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65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66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67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68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69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70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71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72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73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74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75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76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77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78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79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80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81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82.xml><?xml version="1.0" encoding="utf-8"?>
<p:tagLst xmlns:p="http://schemas.openxmlformats.org/presentationml/2006/main">
  <p:tag name="KSO_WM_DIAGRAM_VIRTUALLY_FRAME" val="{&quot;height&quot;:340.1574803149607,&quot;left&quot;:8.503937007874017,&quot;top&quot;:141.7322834645669,&quot;width&quot;:500.3149606299213}"/>
</p:tagLst>
</file>

<file path=ppt/tags/tag83.xml><?xml version="1.0" encoding="utf-8"?>
<p:tagLst xmlns:p="http://schemas.openxmlformats.org/presentationml/2006/main">
  <p:tag name="COMMONDATA" val="eyJoZGlkIjoiY2EzZGMyZjY1YTE1M2ExMzhhOWU4MTI5ZWFlZmRiODkifQ=="/>
  <p:tag name="resource_record_key" val="{&quot;13&quot;:[4364915,4364928,4364924,4722044,4519452,20419712,4364942],&quot;29&quot;:[50000049,50000076,50000031],&quot;65&quot;:[20205176],&quot;70&quot;:[3315601,3402935,3426754,3332761,3312621,3314434,3321866,3314659,3315984,3312359]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汉仪旗黑-55简"/>
        <a:cs typeface=""/>
      </a:majorFont>
      <a:minorFont>
        <a:latin typeface="Arial"/>
        <a:ea typeface="汉仪旗黑-5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雅酷黑 75W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雅酷黑 75W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2754</Words>
  <Application>WPS 演示</Application>
  <PresentationFormat>宽屏</PresentationFormat>
  <Paragraphs>481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汉仪旗黑-55简</vt:lpstr>
      <vt:lpstr>Wingdings</vt:lpstr>
      <vt:lpstr>汉仪雅酷黑 75W</vt:lpstr>
      <vt:lpstr>微软雅黑</vt:lpstr>
      <vt:lpstr>Arial Unicode MS</vt:lpstr>
      <vt:lpstr>汉仪旗黑-55简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123</dc:creator>
  <cp:lastModifiedBy>GuoRujie</cp:lastModifiedBy>
  <cp:revision>217</cp:revision>
  <dcterms:created xsi:type="dcterms:W3CDTF">2019-06-19T02:08:00Z</dcterms:created>
  <dcterms:modified xsi:type="dcterms:W3CDTF">2026-05-15T02:15:18Z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4F648A00B1B24359AE58BB1130BE42EC_13</vt:lpwstr>
  </property>
  <property fmtid="{D5CDD505-2E9C-101B-9397-08002B2CF9AE}" pid="4" name="KSOTemplateUUID">
    <vt:lpwstr>v1.0_mb_AWtQxT0W98raguoOyhJU1w==</vt:lpwstr>
  </property>
</Properties>
</file>