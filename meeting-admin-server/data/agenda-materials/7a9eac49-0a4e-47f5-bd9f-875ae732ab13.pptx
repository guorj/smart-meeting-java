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7004" r:id="rId3"/>
    <p:sldId id="7005" r:id="rId5"/>
    <p:sldId id="7006" r:id="rId6"/>
    <p:sldId id="7010" r:id="rId7"/>
    <p:sldId id="7007" r:id="rId8"/>
    <p:sldId id="7009" r:id="rId9"/>
    <p:sldId id="7008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594" y="132"/>
      </p:cViewPr>
      <p:guideLst>
        <p:guide orient="horz" pos="2160"/>
        <p:guide pos="384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0A4005-C9E2-40C3-ABD3-90E2995B6EF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BD85C7-EF3A-426F-942B-B3D4AF86CC7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1ABEE47-D030-40DB-804A-D44CACC6EC7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1ABEE47-D030-40DB-804A-D44CACC6EC7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1ABEE47-D030-40DB-804A-D44CACC6EC7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5"/>
          <p:cNvSpPr/>
          <p:nvPr userDrawn="1"/>
        </p:nvSpPr>
        <p:spPr>
          <a:xfrm>
            <a:off x="0" y="1"/>
            <a:ext cx="12192000" cy="3429000"/>
          </a:xfrm>
          <a:prstGeom prst="rect">
            <a:avLst/>
          </a:prstGeom>
          <a:blipFill>
            <a:blip r:embed="rId2"/>
            <a:stretch>
              <a:fillRect l="-15407" r="-15407" b="-11822"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文本框 9"/>
          <p:cNvSpPr txBox="1"/>
          <p:nvPr userDrawn="1"/>
        </p:nvSpPr>
        <p:spPr>
          <a:xfrm>
            <a:off x="2065243" y="4405314"/>
            <a:ext cx="8061514" cy="97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矩形 10"/>
          <p:cNvSpPr/>
          <p:nvPr userDrawn="1"/>
        </p:nvSpPr>
        <p:spPr>
          <a:xfrm>
            <a:off x="4446615" y="5684458"/>
            <a:ext cx="3298770" cy="506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0D40B5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3"/>
          <p:cNvPicPr>
            <a:picLocks noChangeAspect="1"/>
          </p:cNvPicPr>
          <p:nvPr userDrawn="1"/>
        </p:nvPicPr>
        <p:blipFill rotWithShape="1">
          <a:blip r:embed="rId3"/>
          <a:srcRect l="3151" t="2913" r="4209" b="3463"/>
          <a:stretch>
            <a:fillRect/>
          </a:stretch>
        </p:blipFill>
        <p:spPr>
          <a:xfrm>
            <a:off x="5472624" y="2799000"/>
            <a:ext cx="1246753" cy="1260000"/>
          </a:xfrm>
          <a:prstGeom prst="ellipse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9548"/>
          </a:xfrm>
          <a:prstGeom prst="rect">
            <a:avLst/>
          </a:prstGeom>
          <a:solidFill>
            <a:srgbClr val="285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手机屏幕的截图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8286" y="39975"/>
            <a:ext cx="3412068" cy="6096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20924"/>
            <a:ext cx="1028700" cy="64770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858126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0"/>
            <a:ext cx="12192000" cy="3858126"/>
          </a:xfrm>
          <a:prstGeom prst="rect">
            <a:avLst/>
          </a:prstGeom>
          <a:solidFill>
            <a:srgbClr val="0D40B5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54"/>
          <p:cNvSpPr txBox="1"/>
          <p:nvPr userDrawn="1"/>
        </p:nvSpPr>
        <p:spPr>
          <a:xfrm>
            <a:off x="272946" y="812948"/>
            <a:ext cx="11646108" cy="1327978"/>
          </a:xfrm>
          <a:prstGeom prst="rect">
            <a:avLst/>
          </a:prstGeom>
          <a:noFill/>
          <a:ln w="9525">
            <a:noFill/>
          </a:ln>
        </p:spPr>
        <p:txBody>
          <a:bodyPr wrap="square" lIns="91428" tIns="45713" rIns="91428" bIns="45713" anchor="t">
            <a:spAutoFit/>
          </a:bodyPr>
          <a:lstStyle/>
          <a:p>
            <a:pPr algn="ctr" defTabSz="1218565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洞悉技术本质        服务产业发展</a:t>
            </a:r>
            <a:endParaRPr lang="en-US" altLang="zh-CN" sz="3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 defTabSz="1218565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Insight into the essence of technology, make contribution to the development of the industry</a:t>
            </a:r>
            <a:endParaRPr lang="zh-CN" altLang="en-US" sz="2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3138542" y="4463638"/>
            <a:ext cx="5845067" cy="1584000"/>
            <a:chOff x="3597793" y="4214258"/>
            <a:chExt cx="5845067" cy="1584000"/>
          </a:xfrm>
        </p:grpSpPr>
        <p:pic>
          <p:nvPicPr>
            <p:cNvPr id="11" name="图片 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7793" y="4214258"/>
              <a:ext cx="1584000" cy="158400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" name="TextBox 57"/>
            <p:cNvSpPr txBox="1"/>
            <p:nvPr/>
          </p:nvSpPr>
          <p:spPr>
            <a:xfrm>
              <a:off x="5366877" y="4371825"/>
              <a:ext cx="4075983" cy="12688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51428" tIns="25714" rIns="51428" bIns="25714" anchor="t">
              <a:spAutoFit/>
            </a:bodyPr>
            <a:lstStyle/>
            <a:p>
              <a:pPr defTabSz="685800" fontAlgn="auto">
                <a:lnSpc>
                  <a:spcPct val="20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zh-CN" altLang="en-US" sz="2000" b="1" dirty="0">
                  <a:solidFill>
                    <a:srgbClr val="0D40B5"/>
                  </a:solidFill>
                  <a:latin typeface="Arial" panose="020B0604020202020204" pitchFamily="34" charset="0"/>
                  <a:ea typeface="方正黑体简体" panose="02000000000000000000" pitchFamily="2" charset="-122"/>
                  <a:cs typeface="Arial" panose="020B0604020202020204" pitchFamily="34" charset="0"/>
                </a:rPr>
                <a:t>地址：中国</a:t>
              </a:r>
              <a:r>
                <a:rPr lang="en-US" altLang="zh-CN" sz="2000" b="1" dirty="0">
                  <a:solidFill>
                    <a:srgbClr val="0D40B5"/>
                  </a:solidFill>
                  <a:latin typeface="Arial" panose="020B0604020202020204" pitchFamily="34" charset="0"/>
                  <a:ea typeface="方正黑体简体" panose="02000000000000000000" pitchFamily="2" charset="-122"/>
                  <a:cs typeface="Arial" panose="020B0604020202020204" pitchFamily="34" charset="0"/>
                </a:rPr>
                <a:t>·</a:t>
              </a:r>
              <a:r>
                <a:rPr lang="zh-CN" altLang="en-US" sz="2000" b="1" dirty="0">
                  <a:solidFill>
                    <a:srgbClr val="0D40B5"/>
                  </a:solidFill>
                  <a:latin typeface="Arial" panose="020B0604020202020204" pitchFamily="34" charset="0"/>
                  <a:ea typeface="方正黑体简体" panose="02000000000000000000" pitchFamily="2" charset="-122"/>
                  <a:cs typeface="Arial" panose="020B0604020202020204" pitchFamily="34" charset="0"/>
                </a:rPr>
                <a:t>青岛 李沧区楼山路1号</a:t>
              </a:r>
              <a:endParaRPr lang="zh-CN" altLang="en-US" sz="2000" b="1" dirty="0">
                <a:solidFill>
                  <a:srgbClr val="0D40B5"/>
                </a:solidFill>
                <a:latin typeface="Arial" panose="020B0604020202020204" pitchFamily="34" charset="0"/>
                <a:ea typeface="方正黑体简体" panose="02000000000000000000" pitchFamily="2" charset="-122"/>
                <a:cs typeface="Arial" panose="020B0604020202020204" pitchFamily="34" charset="0"/>
              </a:endParaRPr>
            </a:p>
            <a:p>
              <a:pPr defTabSz="685800" fontAlgn="auto">
                <a:lnSpc>
                  <a:spcPct val="20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zh-CN" altLang="en-US" sz="2000" b="1" dirty="0">
                  <a:solidFill>
                    <a:srgbClr val="0D40B5"/>
                  </a:solidFill>
                  <a:latin typeface="Arial" panose="020B0604020202020204" pitchFamily="34" charset="0"/>
                  <a:ea typeface="方正黑体简体" panose="02000000000000000000" pitchFamily="2" charset="-122"/>
                  <a:cs typeface="Arial" panose="020B0604020202020204" pitchFamily="34" charset="0"/>
                </a:rPr>
                <a:t>邮箱：</a:t>
              </a:r>
              <a:r>
                <a:rPr lang="en-US" altLang="zh-CN" sz="2000" b="1" dirty="0">
                  <a:solidFill>
                    <a:srgbClr val="0D40B5"/>
                  </a:solidFill>
                  <a:latin typeface="Arial" panose="020B0604020202020204" pitchFamily="34" charset="0"/>
                  <a:ea typeface="方正黑体简体" panose="02000000000000000000" pitchFamily="2" charset="-122"/>
                  <a:cs typeface="Arial" panose="020B0604020202020204" pitchFamily="34" charset="0"/>
                </a:rPr>
                <a:t>QAI@jluauto.com</a:t>
              </a:r>
              <a:endParaRPr lang="en-US" altLang="zh-CN" sz="2000" b="1" dirty="0">
                <a:solidFill>
                  <a:srgbClr val="0D40B5"/>
                </a:solidFill>
                <a:latin typeface="Arial" panose="020B0604020202020204" pitchFamily="34" charset="0"/>
                <a:ea typeface="方正黑体简体" panose="02000000000000000000" pitchFamily="2" charset="-122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853441" y="891790"/>
            <a:ext cx="7863205" cy="539972"/>
          </a:xfrm>
          <a:prstGeom prst="rect">
            <a:avLst/>
          </a:prstGeom>
        </p:spPr>
        <p:txBody>
          <a:bodyPr vert="horz" wrap="square" lIns="86009" tIns="43004" rIns="86009" bIns="43004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28143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1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合作交流部</a:t>
            </a:r>
            <a:endParaRPr kumimoji="0" lang="zh-CN" altLang="en-US" sz="301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00595" y="855837"/>
          <a:ext cx="11419051" cy="48134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146"/>
                <a:gridCol w="1972665"/>
                <a:gridCol w="1972665"/>
                <a:gridCol w="2072905"/>
                <a:gridCol w="1490472"/>
                <a:gridCol w="1554480"/>
                <a:gridCol w="1808718"/>
              </a:tblGrid>
              <a:tr h="122939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33867" marB="3386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年度工作板块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33867" marB="3386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细分领域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33867" marB="3386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周工作完成情况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33867" marB="3386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完成时间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33867" marB="3386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交付物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33867" marB="3386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800" b="1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项目风险和难点</a:t>
                      </a:r>
                      <a:br>
                        <a:rPr lang="en-US" altLang="zh-CN" sz="1800" b="1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</a:br>
                      <a:r>
                        <a:rPr lang="en-US" altLang="zh-CN" sz="1800" b="1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zh-CN" sz="1800" b="1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资源需求</a:t>
                      </a:r>
                      <a:br>
                        <a:rPr lang="en-US" altLang="zh-CN" sz="1800" b="1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</a:br>
                      <a:r>
                        <a:rPr lang="en-US" altLang="zh-CN" sz="1800" b="1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zh-CN" sz="1800" b="1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待决策事项</a:t>
                      </a:r>
                      <a:endParaRPr lang="zh-CN" altLang="en-US" sz="1800" b="1" kern="1200" dirty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T="33867" marB="33867" anchor="ctr"/>
                </a:tc>
              </a:tr>
              <a:tr h="11946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T="33867" marB="33867"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日常工作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T="33867" marB="33867" anchor="ctr"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研究院设备出入库管理系统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342900" indent="-342900">
                        <a:buAutoNum type="arabicPeriod"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现有设备梳理做宣传文件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T="33867" marB="3386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进行中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algn="ctr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endParaRPr lang="en-US" altLang="zh-CN" sz="16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algn="ctr"/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完成一版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T="33867" marB="3386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周五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T="33867" marB="3386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ppt/pdf</a:t>
                      </a:r>
                      <a:endParaRPr lang="en-US" altLang="zh-CN" sz="16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T="33867" marB="3386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管理系统使用是否方便快捷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设备宣传已什么合作方式收取费用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T="33867" marB="33867" anchor="ctr"/>
                </a:tc>
              </a:tr>
              <a:tr h="11946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T="33867" marB="33867"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概念验证平台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T="33867" marB="33867"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往年信息整理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T="33867" marB="3386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整理完成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待验证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T="33867" marB="3386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上周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T="33867" marB="3386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表格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T="33867" marB="3386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T="33867" marB="33867" anchor="ctr"/>
                </a:tc>
              </a:tr>
              <a:tr h="11946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T="33867" marB="33867" anchor="ctr"/>
                </a:tc>
                <a:tc>
                  <a:txBody>
                    <a:bodyPr/>
                    <a:lstStyle/>
                    <a:p>
                      <a:endParaRPr lang="zh-CN" altLang="en-US" sz="16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T="33867" marB="33867" anchor="ctr"/>
                </a:tc>
                <a:tc>
                  <a:txBody>
                    <a:bodyPr/>
                    <a:lstStyle/>
                    <a:p>
                      <a:endParaRPr lang="zh-CN" altLang="en-US" sz="16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T="33867" marB="33867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T="33867" marB="33867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T="33867" marB="33867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T="33867" marB="3386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T="33867" marB="33867" anchor="ctr"/>
                </a:tc>
              </a:tr>
            </a:tbl>
          </a:graphicData>
        </a:graphic>
      </p:graphicFrame>
      <p:sp>
        <p:nvSpPr>
          <p:cNvPr id="5" name="标题 1"/>
          <p:cNvSpPr txBox="1"/>
          <p:nvPr/>
        </p:nvSpPr>
        <p:spPr>
          <a:xfrm>
            <a:off x="1040586" y="0"/>
            <a:ext cx="7863205" cy="72898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36271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姓名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853441" y="891790"/>
            <a:ext cx="7863205" cy="539972"/>
          </a:xfrm>
          <a:prstGeom prst="rect">
            <a:avLst/>
          </a:prstGeom>
        </p:spPr>
        <p:txBody>
          <a:bodyPr vert="horz" wrap="square" lIns="86009" tIns="43004" rIns="86009" bIns="43004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28143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1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合作交流部</a:t>
            </a:r>
            <a:endParaRPr kumimoji="0" lang="zh-CN" altLang="en-US" sz="301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1040586" y="0"/>
            <a:ext cx="7863205" cy="72898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36271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研究院现有设备整理（持续更新）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09980"/>
            <a:ext cx="12186920" cy="52241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853441" y="891790"/>
            <a:ext cx="7863205" cy="539972"/>
          </a:xfrm>
          <a:prstGeom prst="rect">
            <a:avLst/>
          </a:prstGeom>
        </p:spPr>
        <p:txBody>
          <a:bodyPr vert="horz" wrap="square" lIns="86009" tIns="43004" rIns="86009" bIns="43004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28143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1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合作交流部</a:t>
            </a:r>
            <a:endParaRPr kumimoji="0" lang="zh-CN" altLang="en-US" sz="301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2" name="标题 1"/>
          <p:cNvSpPr txBox="1"/>
          <p:nvPr/>
        </p:nvSpPr>
        <p:spPr>
          <a:xfrm>
            <a:off x="1040586" y="0"/>
            <a:ext cx="7863205" cy="72898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36271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60780" y="151130"/>
            <a:ext cx="616331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商用车智能制造成果转化概念验证平台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5240" y="728980"/>
          <a:ext cx="12176760" cy="6100445"/>
        </p:xfrm>
        <a:graphic>
          <a:graphicData uri="http://schemas.openxmlformats.org/drawingml/2006/table">
            <a:tbl>
              <a:tblPr/>
              <a:tblGrid>
                <a:gridCol w="838200"/>
                <a:gridCol w="1297305"/>
                <a:gridCol w="3447415"/>
                <a:gridCol w="6593840"/>
              </a:tblGrid>
              <a:tr h="425450">
                <a:tc>
                  <a:txBody>
                    <a:bodyPr/>
                    <a:p>
                      <a:pPr algn="l"/>
                      <a:r>
                        <a:rPr lang="zh-CN" altLang="en-US" sz="1000" b="0">
                          <a:solidFill>
                            <a:schemeClr val="bg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序号</a:t>
                      </a:r>
                      <a:endParaRPr lang="zh-CN" altLang="en-US" sz="1000" b="0">
                        <a:solidFill>
                          <a:schemeClr val="bg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0">
                          <a:solidFill>
                            <a:schemeClr val="bg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项目一级指标</a:t>
                      </a:r>
                      <a:endParaRPr lang="zh-CN" altLang="en-US" sz="1000" b="0">
                        <a:solidFill>
                          <a:schemeClr val="bg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0">
                          <a:solidFill>
                            <a:schemeClr val="bg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项目二级指标</a:t>
                      </a:r>
                      <a:endParaRPr lang="zh-CN" altLang="en-US" sz="1000" b="0">
                        <a:solidFill>
                          <a:schemeClr val="bg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0">
                          <a:solidFill>
                            <a:schemeClr val="bg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对应数据</a:t>
                      </a:r>
                      <a:endParaRPr lang="zh-CN" altLang="en-US" sz="1000" b="0">
                        <a:solidFill>
                          <a:schemeClr val="bg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26720">
                <a:tc>
                  <a:txBody>
                    <a:bodyPr/>
                    <a:p>
                      <a:pPr algn="l"/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研发投入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1.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研发经费投入额度（万元）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平台新增设备投资</a:t>
                      </a:r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367.37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万元（截至 </a:t>
                      </a:r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2025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年 </a:t>
                      </a:r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9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月）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4180">
                <a:tc>
                  <a:txBody>
                    <a:bodyPr/>
                    <a:p>
                      <a:pPr algn="l"/>
                      <a:endParaRPr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endParaRPr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2.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配套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设备资金额度（万元）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1080.07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万元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6085">
                <a:tc>
                  <a:txBody>
                    <a:bodyPr/>
                    <a:p>
                      <a:pPr algn="l"/>
                      <a:endParaRPr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endParaRPr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3.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研发经费支出占年收入比例（</a:t>
                      </a:r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%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）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未知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5450">
                <a:tc>
                  <a:txBody>
                    <a:bodyPr/>
                    <a:p>
                      <a:pPr algn="l"/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  <a:endParaRPr lang="en-US" altLang="zh-CN"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知识产权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1.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获得高价值发明专利数量（个）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>
                          <a:latin typeface="黑体" panose="02010609060101010101" pitchFamily="49" charset="-122"/>
                          <a:ea typeface="黑体" panose="02010609060101010101" pitchFamily="49" charset="-122"/>
                          <a:sym typeface="+mn-ea"/>
                        </a:rPr>
                        <a:t>未知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6720">
                <a:tc>
                  <a:txBody>
                    <a:bodyPr/>
                    <a:p>
                      <a:pPr algn="l"/>
                      <a:endParaRPr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endParaRPr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2.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发表高水平论文数量（篇）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>
                          <a:latin typeface="黑体" panose="02010609060101010101" pitchFamily="49" charset="-122"/>
                          <a:ea typeface="黑体" panose="02010609060101010101" pitchFamily="49" charset="-122"/>
                          <a:sym typeface="+mn-ea"/>
                        </a:rPr>
                        <a:t>未知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73100">
                <a:tc>
                  <a:txBody>
                    <a:bodyPr/>
                    <a:p>
                      <a:pPr algn="l"/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endParaRPr lang="en-US" altLang="zh-CN"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引进 </a:t>
                      </a:r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/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培养人才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2.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团队研发人员（人）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专职技术人员 </a:t>
                      </a:r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6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人、管理人员 </a:t>
                      </a:r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8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人、技术经纪人 </a:t>
                      </a:r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4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人，团队总计</a:t>
                      </a:r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24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人；高级职称 </a:t>
                      </a:r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7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人，博士 </a:t>
                      </a:r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6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人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6085">
                <a:tc>
                  <a:txBody>
                    <a:bodyPr/>
                    <a:p>
                      <a:pPr algn="l"/>
                      <a:endParaRPr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endParaRPr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3.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培养博士、专业技术人才等数量（人）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>
                          <a:latin typeface="黑体" panose="02010609060101010101" pitchFamily="49" charset="-122"/>
                          <a:ea typeface="黑体" panose="02010609060101010101" pitchFamily="49" charset="-122"/>
                          <a:sym typeface="+mn-ea"/>
                        </a:rPr>
                        <a:t>未知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6085">
                <a:tc>
                  <a:txBody>
                    <a:bodyPr/>
                    <a:p>
                      <a:pPr algn="l"/>
                      <a:endParaRPr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endParaRPr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4.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开发科研助理岗位数量（人）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>
                          <a:latin typeface="黑体" panose="02010609060101010101" pitchFamily="49" charset="-122"/>
                          <a:ea typeface="黑体" panose="02010609060101010101" pitchFamily="49" charset="-122"/>
                          <a:sym typeface="+mn-ea"/>
                        </a:rPr>
                        <a:t>未知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73735">
                <a:tc>
                  <a:txBody>
                    <a:bodyPr/>
                    <a:p>
                      <a:pPr algn="l"/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</a:t>
                      </a:r>
                      <a:endParaRPr lang="en-US" altLang="zh-CN"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关键技术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1.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突破国外垄断技术，形成替代技术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多项技术填补国内商用车领域空白；实现双电机电驱桥减重 </a:t>
                      </a:r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21.22%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，达成电驱桥 “长换油”“免维护” 技术突破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73100">
                <a:tc>
                  <a:txBody>
                    <a:bodyPr/>
                    <a:p>
                      <a:pPr algn="l"/>
                      <a:endParaRPr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endParaRPr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2.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突破山东主导产业或产业转型发展急需关键技术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攻克新能源商用车电驱桥、重型商用车电驱动挂车、商用车热管理、气动仿真、电性能检测等多项产业关键技术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73735">
                <a:tc>
                  <a:txBody>
                    <a:bodyPr/>
                    <a:p>
                      <a:pPr algn="l"/>
                      <a:endParaRPr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endParaRPr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3.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突破产业共性技术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商用车智能化装配、整车可靠性验证、汽车认证检测、低空飞行器轻量化设计等多项行业共性技术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8415" y="678815"/>
          <a:ext cx="12174220" cy="6081395"/>
        </p:xfrm>
        <a:graphic>
          <a:graphicData uri="http://schemas.openxmlformats.org/drawingml/2006/table">
            <a:tbl>
              <a:tblPr/>
              <a:tblGrid>
                <a:gridCol w="838200"/>
                <a:gridCol w="1135380"/>
                <a:gridCol w="3678555"/>
                <a:gridCol w="6522085"/>
              </a:tblGrid>
              <a:tr h="368935">
                <a:tc>
                  <a:txBody>
                    <a:bodyPr/>
                    <a:p>
                      <a:pPr algn="l"/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</a:t>
                      </a:r>
                      <a:endParaRPr lang="en-US" altLang="zh-CN"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成果转移转化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1.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转让知识产权数量（个）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>
                          <a:latin typeface="黑体" panose="02010609060101010101" pitchFamily="49" charset="-122"/>
                          <a:ea typeface="黑体" panose="02010609060101010101" pitchFamily="49" charset="-122"/>
                          <a:sym typeface="+mn-ea"/>
                        </a:rPr>
                        <a:t>未知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3540">
                <a:tc>
                  <a:txBody>
                    <a:bodyPr/>
                    <a:p>
                      <a:pPr algn="l"/>
                      <a:endParaRPr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endParaRPr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2.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科技成果推广应用数量（个）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概念验证成果转化</a:t>
                      </a:r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 8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项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2905">
                <a:tc>
                  <a:txBody>
                    <a:bodyPr/>
                    <a:p>
                      <a:pPr algn="l"/>
                      <a:endParaRPr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endParaRPr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3.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推动科研成果实现产业化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推动</a:t>
                      </a:r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 4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项新产品上市落地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5790">
                <a:tc>
                  <a:txBody>
                    <a:bodyPr/>
                    <a:p>
                      <a:pPr algn="l"/>
                      <a:endParaRPr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endParaRPr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4.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形成关键核心技术、新工艺、新产品（个）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落地 </a:t>
                      </a:r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12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个新增概念验证项目，形成电驱桥集成、混动系统、气动优化、整车检测等多项新工艺、新产品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2905">
                <a:tc>
                  <a:txBody>
                    <a:bodyPr/>
                    <a:p>
                      <a:pPr algn="l"/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</a:t>
                      </a:r>
                      <a:endParaRPr lang="en-US" altLang="zh-CN"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培育企业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1.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在孵科技企业数量（个）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孵化及引进企业</a:t>
                      </a:r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 5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家高新技术企业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3540">
                <a:tc>
                  <a:txBody>
                    <a:bodyPr/>
                    <a:p>
                      <a:pPr algn="l"/>
                      <a:endParaRPr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endParaRPr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2.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培育科技型中小企业入库数量（个）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2025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年入库科技型中小企业</a:t>
                      </a:r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 7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家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2270">
                <a:tc>
                  <a:txBody>
                    <a:bodyPr/>
                    <a:p>
                      <a:pPr algn="l"/>
                      <a:endParaRPr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endParaRPr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3.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培育高新技术企业数量（个）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培育认定高新技术企业</a:t>
                      </a:r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 5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家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2905">
                <a:tc>
                  <a:txBody>
                    <a:bodyPr/>
                    <a:p>
                      <a:pPr algn="l"/>
                      <a:endParaRPr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endParaRPr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4.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培育的企业就业人数（个）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带动区域新增就业岗位逾千人次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2905">
                <a:tc>
                  <a:txBody>
                    <a:bodyPr/>
                    <a:p>
                      <a:pPr algn="l"/>
                      <a:endParaRPr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endParaRPr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5.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培育企业的总利税（万元）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>
                          <a:latin typeface="黑体" panose="02010609060101010101" pitchFamily="49" charset="-122"/>
                          <a:ea typeface="黑体" panose="02010609060101010101" pitchFamily="49" charset="-122"/>
                          <a:sym typeface="+mn-ea"/>
                        </a:rPr>
                        <a:t>未知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7060">
                <a:tc>
                  <a:txBody>
                    <a:bodyPr/>
                    <a:p>
                      <a:pPr algn="l"/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</a:t>
                      </a:r>
                      <a:endParaRPr lang="en-US" altLang="zh-CN"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服务企业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1.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服务企业数量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累计服务企事业单位</a:t>
                      </a:r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 18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家（本地 </a:t>
                      </a:r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10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家），完成概念验证服务</a:t>
                      </a:r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 12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项（本地 </a:t>
                      </a:r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8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项）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9945">
                <a:tc>
                  <a:txBody>
                    <a:bodyPr/>
                    <a:p>
                      <a:pPr algn="l"/>
                      <a:endParaRPr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endParaRPr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2.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开展产学研合作企业或高校、科研院所数量（个）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合作单位：青岛青特众力车桥；合作企业包含海尔空调、陕西同力重工、青汽解放、北京福田戴姆勒、中汽研等数十家企业；依托吉林大学，联动清华、北理等高校智库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2905">
                <a:tc>
                  <a:txBody>
                    <a:bodyPr/>
                    <a:p>
                      <a:pPr algn="l"/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</a:t>
                      </a:r>
                      <a:endParaRPr lang="en-US" altLang="zh-CN"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经济效益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1.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技术服务收入总额（万元）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概念验证服务合同额</a:t>
                      </a:r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 4612.05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万元，实际到账额</a:t>
                      </a:r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 2285.13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万元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5790">
                <a:tc>
                  <a:txBody>
                    <a:bodyPr/>
                    <a:p>
                      <a:pPr algn="l"/>
                      <a:endParaRPr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endParaRPr sz="1000" b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2.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新型研发机构新增收入（万元）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单项目服务收入累计：</a:t>
                      </a:r>
                      <a:r>
                        <a:rPr lang="en-US" altLang="zh-CN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121.4+60+200+260+213.4+36.2+32.8+80+120+2633+500+58 = 4314.8 </a:t>
                      </a:r>
                      <a:r>
                        <a:rPr lang="zh-CN" altLang="en-US" sz="1000" b="0"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万元</a:t>
                      </a:r>
                      <a:endParaRPr lang="zh-CN" altLang="en-US" sz="1000" b="0"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76517" marR="76517" marT="76517" marB="76517" anchor="ctr" anchorCtr="0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7485" y="857885"/>
            <a:ext cx="4543425" cy="58007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415" y="857885"/>
            <a:ext cx="4098290" cy="5775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0" y="666750"/>
          <a:ext cx="12192000" cy="22303740"/>
        </p:xfrm>
        <a:graphic>
          <a:graphicData uri="http://schemas.openxmlformats.org/drawingml/2006/table">
            <a:tbl>
              <a:tblPr/>
              <a:tblGrid>
                <a:gridCol w="598170"/>
                <a:gridCol w="1986280"/>
                <a:gridCol w="1049655"/>
                <a:gridCol w="522605"/>
                <a:gridCol w="601980"/>
                <a:gridCol w="525780"/>
                <a:gridCol w="712470"/>
                <a:gridCol w="711200"/>
                <a:gridCol w="514985"/>
                <a:gridCol w="661670"/>
                <a:gridCol w="709930"/>
                <a:gridCol w="774065"/>
                <a:gridCol w="855980"/>
                <a:gridCol w="741680"/>
                <a:gridCol w="692785"/>
                <a:gridCol w="532765"/>
              </a:tblGrid>
              <a:tr h="146685">
                <a:tc gridSpan="16">
                  <a:txBody>
                    <a:bodyPr/>
                    <a:p>
                      <a:pPr algn="ctr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2025</a:t>
                      </a:r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年青岛市概念验证平台（已运行）服务收入明细表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84480">
                <a:tc>
                  <a:txBody>
                    <a:bodyPr/>
                    <a:p>
                      <a:pPr algn="ctr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概念验证平台名称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15">
                  <a:txBody>
                    <a:bodyPr/>
                    <a:p>
                      <a:pPr algn="ctr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青岛市商用车智能制造成果转化概念验证平台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21005">
                <a:tc>
                  <a:txBody>
                    <a:bodyPr/>
                    <a:p>
                      <a:pPr algn="ctr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序号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服务合同名称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服务单位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服务单位是否为青岛市本地单位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概念验证服务类型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技术合同类别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合同签订日期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合同截止日期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是否进行技术合同登记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技术合同认定登记编号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技术合同登记日期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签订合同金额（万元）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实际到账金额（万元）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发票日期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银行回单实际到账时间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记账凭证时间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4480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冷藏车冷机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CLY55Q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全新平台项目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郑州海尔空调器有限公司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中试熟化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技术服务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2025.07.10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2026.12.31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121.4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1005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矿用自卸车电子电气架构开发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陕西同力重工股份有限公司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原理或技术可行性分析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技术开发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2024.11.30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2025.10.01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6.00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20250901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20241216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202412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120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商用车有害物质监控项目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青岛毕勤机电有限公司</a:t>
                      </a:r>
                      <a:b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</a:b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海阳三贤电装科技有限公司青岛集贤塑料有限公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是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性能测试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技术服务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2024.05.01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2026.12.31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80.00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8800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商用车电性能提升项目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青岛毕勤机电有限公司</a:t>
                      </a:r>
                      <a:b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</a:b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海阳三贤电装科技有限公司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是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性能测试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技术服务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2024.05.01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2026.12.31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80.00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1640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商用车动力输出响应仿真分析能力提升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青岛立博汽车零部件精密铸造有限公司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是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原理或技术可行性分析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技术开发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2024.03.06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2026.03.05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是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2024370203002100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2024.08.30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260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1005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水泥搅拌车混动上装系统设计与开发  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山东驰恒智测汽车科技有限公司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二次开发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技术开发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2024.06.21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2025.05.31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是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2024370203002320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2024.09.14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213.4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213.40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20240927</a:t>
                      </a:r>
                      <a:b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</a:b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20241025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1640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旋挖钻机机舱散热系统研究与开发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青岛育喆汽车工程技术有限公司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是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性能测试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技术开发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2024.01.03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2025.12.31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是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2024370203002625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2024.10.24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36.2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36.20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20241106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3845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汽车认证检测服务项目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一汽解放青岛汽车有限公司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是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场景应用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技术服务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2023.1.1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2025.12.31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124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124.00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1640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前副车架静载、疲劳试验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MTSC Technology Sdn.Bhd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性能测试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技术服务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2024.09.27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2024.11.27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57.5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57.5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3845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高压电缆弯曲振动试验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无锡瀚科检测有限公司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性能测试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技术服务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2025.02.07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2025.04.07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5.81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5.81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3845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防滚架、侧踏板总成承重试验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山东莱恩检测技术有限公司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是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性能测试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技术服务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2025.04.08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2025.04.31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1.65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1.65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4480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主轴连接件刚性试验技术服务合同书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青岛博恩德检测有限公司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是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性能测试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技术服务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2024.10.24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2024.12.31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0.25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0.25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1005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13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桥总成制动力矩测试技术服务合同书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羲和智能装备（山东）有限公司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性能测试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技术服务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2024.12.11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2025.6.30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4480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14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蠕铁制动鼓外委台架试验项目技术服务合同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一汽铸造有限公司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性能测试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技术服务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2025.01.13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8.19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8.19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1005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扭杆静扭强度技术服务合同书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斯坦的检测集团股份有限公司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是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性能测试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技术服务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2025.01.03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2025.6.30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0.30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0.30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1640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16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制动盘热疲劳、高负荷技术服务合同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中汽零部件技术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(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天津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)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性能测试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技术服务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2025.01.21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2.70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2.70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1005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17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扭杆静扭强度技术服务合同书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斯坦的检测集团股份有限公司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是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性能测试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技术服务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2025.02.06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2025.6.30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0.30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0.30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4480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18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寸气压盘式制动器总成性能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(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效率、噪声、磨损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)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试验技术服务合同书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浙江右丰科技有限公司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性能测试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技术服务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2025.02.20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2025.6.30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4.50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4.50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3845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19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电动重卡两档电驱系统性能测试技术服务合同书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西华大学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性能测试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技术服务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2025.02.25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2025.6.30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2.50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2.50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4480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RA075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减速器委外试验采购合同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郑州智驱科技有限公司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性能测试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技术服务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2024.11.25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3.00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3.00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1005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前悬转向节总成单轴疲劳试验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青岛艾德泰克检测技术有限公司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是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性能测试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技术服务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2025.04.10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2025.12.31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1.84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1.84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4480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22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电驱桥总成试验采购合同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宇通汽车股份有限公司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性能测试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技术服务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2024.12.09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9.38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9.38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3845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23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桥壳横向弯曲疲劳、制动疲劳试验技术服务合同书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青岛富菱美桥科技有限公司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是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性能测试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技术服务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2025.05.24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2.31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2.31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1640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24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驱动桥总成齿轮疲劳试验项目技术服务合同书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青岛银菲特精密机械有限公司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是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性能测试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技术服务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2025.07.08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2026.01.08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2.20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2.20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3845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前贯通轴静扭强度技术服务合同书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綦江重配齿轮有限公司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性能测试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技术服务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2025.07.03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2026.01.31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0.30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0.30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6685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26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传动轴静扭强度技术服务合同书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东华大学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性能测试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技术服务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2025.07.02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2026.01.31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1.75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1.75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4480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27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电驱桥总成噪声试验技术服务合同书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苏州众源测试技术有限公司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性能测试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技术服务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2025.06.10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2025.12.31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4.00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4.00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1005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28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传动效率（油品验证）服务协议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雅富顿化工（苏州）有限公司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性能测试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技术服务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2025.07.15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8.70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8.70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1640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29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变速箱 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NVH 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试验技术服务合同书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伊顿康明斯（中国）变速箱有限公司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性能测试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技术服务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2025.06.23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2025.12.31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6.10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6.10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1005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桥壳垂直弯曲疲劳技术服务合同书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吉林省威创机电工程有限公司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性能测试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技术服务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2025.07.07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2026.01.31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2.89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2.89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1640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车轴垂直疲劳试验技术服务合同书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固德伟装配式建筑科技（青岛）有限公司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是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性能测试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技术服务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2025.07.23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2025.12.31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3.00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3.00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6685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32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传动轴试验项目技术服务合同书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东华大学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性能测试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技术服务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2025.07.02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2026.01.31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2.79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2.79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3845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33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桥壳垂直弯曲疲劳技术服务合同书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宏马工程机械有限公司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性能测试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技术服务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2025.08.22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2026.02.22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2.40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2.40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8800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34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蓝天航空工程模拟飞机驾驶舱项目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青岛蓝天民用航空科技有限公司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是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工程样机生产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技术开发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2025.1.17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2025.3.20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23.50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21.15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2025-02-08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（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70500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）、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2025-04-15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（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141000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）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2025.2.14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（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70500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）、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2025.4.17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（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141000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）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8800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北京蓝天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-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商飞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CE25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模拟机制作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北京蓝天科技股份有限公司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工程样机生产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技术开发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2025.3.6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2025.4.18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39.50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35.55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2025/3/12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（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118500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）、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2025-04-15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（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237000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）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2025.3.18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（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118500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）、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2025.4.17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（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237000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）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1005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36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L2501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电动乘用车风洞测试样件制作货物采购（中汽研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T13T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二轮改制）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中汽研（天津）汽车工程研究院有限公司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原型制造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技术开发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2025.3.7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2025.4.30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16.98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16.98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45831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2025.7.31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95960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37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丰田实车改制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-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喷漆贴膜（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1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台）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丰田智能电动汽车研发中心（中国）有限公司上海分公司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中试熟化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技术开发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2025.3.24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2025.4.14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2.86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2.86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45758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2025.4.25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8800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38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丰田实车改制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-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喷漆贴膜（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台）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北京贝思森博文化传播有限公司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中试熟化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技术开发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2025.3.18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2025.4.2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2.86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2.86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2025/4/14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（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14310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）、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2025-03-19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（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14310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）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2025.3.21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、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2025.7.4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3120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39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北京蓝天航空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-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模拟驾驶舱结构设计加工合同（沃飞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3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台）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北京蓝天航空科技股份有限公司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工程样机生产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技术开发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2025.4.8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2025.6.20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65.70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59.13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2025/4/22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（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197100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）、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2025-06-30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（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262800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）、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2025-09-09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（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131400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）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2025.4.27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（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197100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）</a:t>
                      </a:r>
                      <a:b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</a:b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2025.6.30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（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262800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）</a:t>
                      </a:r>
                      <a:b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</a:b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2025.9.11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（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131400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）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1640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越野房车底盘扫描逆向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青岛城市印象文化发展有限公司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是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场景应用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技术服务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2025.5.18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2025.6.20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7.80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2025/8/22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（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31000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）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1005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沃兰特采购座椅调节把手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上海沃兰特航空技术有限责任公司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原型制造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技术开发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2025.4.27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2025.5.26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0.12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0.12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2025-05-27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（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1200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）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2025.6.13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1640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42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观察员座椅滑轨挡板加工制作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北京蓝天航空科技股份有限公司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原型制造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技术开发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2025.6.17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2025.6.24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0.39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0.39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45842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2025.7.4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8800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43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蓝天航空公司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-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沃兰特展示机两台加工制作合同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青岛蓝天民用航空科技有限公司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是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工程样机生产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技术开发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2025.7.21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2025.8.31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28.00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16.80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2025-08-04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（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84000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）、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2025-09-08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（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84000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）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2025.8.14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（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84000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）、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2025.9.28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（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84000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）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8800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44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蓝天航空公司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-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沃兰特展示机两台技术开发合同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青岛蓝天民用航空科技有限公司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是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场景应用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技术服务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2025.7.21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2025.8.31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是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45.00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45.00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2025-08-04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（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200000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）、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2025-09-08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（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250000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）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2025.8.14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（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200000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）、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2025.9.28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（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250000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）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1005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中集普威工商业储能柜外观设计技术服务合同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青岛中集普威新能源科技有限公司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是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二次开发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技术开发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2025.4.27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2025.5.10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3.00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2025/8/6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（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30000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）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1640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46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北京蓝天航空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-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迁出站设计加工项目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北京蓝天航空科技股份有限公司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原型制造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技术开发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2025.9.03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2025.9.30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9.07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8.16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2025/9/9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（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81639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）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2025.9.11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0310"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47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商用车预见性自适应巡航算法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青岛吉青工业设计有限公司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是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二次开发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技术开发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2025.1.15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2025.6.30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64.67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51.98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2025-06-26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（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530000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）</a:t>
                      </a:r>
                      <a:b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</a:b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2025.3.21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（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260000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）、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2025.6.30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（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20000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）、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2025.7.21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（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100000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）、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2025.8.20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（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60000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）</a:t>
                      </a:r>
                      <a:b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</a:b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2025.8.29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（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10000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）、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2025.9.3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（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1000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）、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2025.9.5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（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1000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）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2025.9.15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（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4000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）、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2025.9.24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（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59987.64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）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平台评审标准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005" y="715010"/>
            <a:ext cx="10059670" cy="612330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958*477"/>
  <p:tag name="TABLE_ENDDRAG_RECT" val="1*57*958*477"/>
</p:tagLst>
</file>

<file path=ppt/tags/tag2.xml><?xml version="1.0" encoding="utf-8"?>
<p:tagLst xmlns:p="http://schemas.openxmlformats.org/presentationml/2006/main">
  <p:tag name="TABLE_ENDDRAG_ORIGIN_RECT" val="958*478"/>
  <p:tag name="TABLE_ENDDRAG_RECT" val="1*53*958*478"/>
</p:tagLst>
</file>

<file path=ppt/tags/tag3.xml><?xml version="1.0" encoding="utf-8"?>
<p:tagLst xmlns:p="http://schemas.openxmlformats.org/presentationml/2006/main">
  <p:tag name="TABLE_ENDDRAG_ORIGIN_RECT" val="960*1745"/>
  <p:tag name="TABLE_ENDDRAG_RECT" val="0*52*960*1745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6336</Words>
  <Application>WPS 演示</Application>
  <PresentationFormat>宽屏</PresentationFormat>
  <Paragraphs>1565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3" baseType="lpstr">
      <vt:lpstr>Arial</vt:lpstr>
      <vt:lpstr>宋体</vt:lpstr>
      <vt:lpstr>Wingdings</vt:lpstr>
      <vt:lpstr>等线</vt:lpstr>
      <vt:lpstr>微软雅黑</vt:lpstr>
      <vt:lpstr>方正黑体简体</vt:lpstr>
      <vt:lpstr>Calibri</vt:lpstr>
      <vt:lpstr>Arial Unicode MS</vt:lpstr>
      <vt:lpstr>Times New Roman</vt:lpstr>
      <vt:lpstr>黑体</vt:lpstr>
      <vt:lpstr>仿宋</vt:lpstr>
      <vt:lpstr>FZKai-Z03S</vt:lpstr>
      <vt:lpstr>Segoe Print</vt:lpstr>
      <vt:lpstr>Calibri</vt:lpstr>
      <vt:lpstr>方正黑体简体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忠娜 朱</dc:creator>
  <cp:lastModifiedBy>赵玉强</cp:lastModifiedBy>
  <cp:revision>13</cp:revision>
  <dcterms:created xsi:type="dcterms:W3CDTF">2026-03-04T09:53:00Z</dcterms:created>
  <dcterms:modified xsi:type="dcterms:W3CDTF">2026-06-07T13:05:34Z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9CDC8FFAFF544EB5A3C8C7FD9AE6B754_13</vt:lpwstr>
  </property>
</Properties>
</file>