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9"/>
    <p:sldId id="263" r:id="rId20"/>
  </p:sldIdLst>
  <p:sldSz cx="12167999" cy="6840000"/>
  <p:notesSz cx="6858000" cy="9144000"/>
  <p:embeddedFontLst>
    <p:embeddedFont>
      <p:font typeface="汉仪旗黑-55简" panose="00020600040101010101" charset="-122"/>
      <p:regular r:id="rId15"/>
    </p:embeddedFont>
    <p:embeddedFont>
      <p:font typeface="汉仪雅酷黑 75W" panose="020B0804020202020204" charset="-122"/>
      <p:bold r:id="rId16"/>
    </p:embeddedFont>
    <p:embeddedFont>
      <p:font typeface="微软雅黑" panose="020B0503020204020204" charset="-122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3" pos="7456" userDrawn="1">
          <p15:clr>
            <a:srgbClr val="A4A3A4"/>
          </p15:clr>
        </p15:guide>
        <p15:guide id="4" pos="3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483810881" name="WPS_1679281038" initials="W" lastIdx="1" clrIdx="2"/>
  <p:cmAuthor id="1" name="123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AB8D"/>
    <a:srgbClr val="AA6500"/>
    <a:srgbClr val="475987"/>
    <a:srgbClr val="D2DDF5"/>
    <a:srgbClr val="FFFFFF"/>
    <a:srgbClr val="DFC2AD"/>
    <a:srgbClr val="EAEFFA"/>
    <a:srgbClr val="E3E9DC"/>
    <a:srgbClr val="4B5E8F"/>
    <a:srgbClr val="394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5"/>
        <p:guide pos="7456"/>
        <p:guide pos="32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tags" Target="tags/tag110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rPr>
            </a:fld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rPr>
            </a:fld>
            <a:endParaRPr lang="zh-CN" altLang="en-US">
              <a:latin typeface="汉仪雅酷黑 75W" panose="020B0804020202020204" charset="-122"/>
              <a:ea typeface="汉仪旗黑-55简" panose="00020600040101010101" charset="-122"/>
              <a:sym typeface="汉仪雅酷黑 75W" panose="020B0804020202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雅酷黑 75W" panose="020B0804020202020204" charset="-122"/>
                <a:ea typeface="汉仪旗黑-55简" panose="00020600040101010101" charset="-122"/>
                <a:sym typeface="汉仪雅酷黑 75W" panose="020B0804020202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雅酷黑 75W" panose="020B0804020202020204" charset="-122"/>
        <a:ea typeface="汉仪旗黑-55简" panose="00020600040101010101" charset="-122"/>
        <a:cs typeface="+mn-cs"/>
        <a:sym typeface="汉仪雅酷黑 75W" panose="020B0804020202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image" Target="../media/image1.png"/><Relationship Id="rId6" Type="http://schemas.microsoft.com/office/2007/relationships/hdphoto" Target="../media/image2.png"/><Relationship Id="rId7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>
                <a:ea typeface="汉仪旗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  <a:ea typeface="汉仪旗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0">
            <a:off x="4086860" y="598170"/>
            <a:ext cx="6286500" cy="147955"/>
            <a:chOff x="6142" y="924"/>
            <a:chExt cx="9900" cy="233"/>
          </a:xfrm>
        </p:grpSpPr>
        <p:grpSp>
          <p:nvGrpSpPr>
            <p:cNvPr id="5" name="组合 4"/>
            <p:cNvGrpSpPr/>
            <p:nvPr/>
          </p:nvGrpSpPr>
          <p:grpSpPr>
            <a:xfrm>
              <a:off x="15633" y="924"/>
              <a:ext cx="409" cy="233"/>
              <a:chOff x="886" y="808"/>
              <a:chExt cx="756" cy="430"/>
            </a:xfrm>
          </p:grpSpPr>
          <p:sp>
            <p:nvSpPr>
              <p:cNvPr id="7" name="燕尾形 6"/>
              <p:cNvSpPr/>
              <p:nvPr/>
            </p:nvSpPr>
            <p:spPr>
              <a:xfrm>
                <a:off x="886" y="808"/>
                <a:ext cx="430" cy="430"/>
              </a:xfrm>
              <a:prstGeom prst="chevron">
                <a:avLst/>
              </a:prstGeom>
              <a:solidFill>
                <a:srgbClr val="313D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  <p:sp>
            <p:nvSpPr>
              <p:cNvPr id="8" name="燕尾形 7"/>
              <p:cNvSpPr/>
              <p:nvPr/>
            </p:nvSpPr>
            <p:spPr>
              <a:xfrm>
                <a:off x="1212" y="808"/>
                <a:ext cx="430" cy="430"/>
              </a:xfrm>
              <a:prstGeom prst="chevron">
                <a:avLst/>
              </a:prstGeom>
              <a:solidFill>
                <a:srgbClr val="4B5E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ea typeface="汉仪旗黑-55简" panose="00020600040101010101" charset="-122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6142" y="1040"/>
              <a:ext cx="8760" cy="0"/>
            </a:xfrm>
            <a:prstGeom prst="line">
              <a:avLst/>
            </a:prstGeom>
            <a:ln w="12700">
              <a:solidFill>
                <a:srgbClr val="DFE4EA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 descr="7b0a202020202266696c746572223a202230220a7d0a"/>
          <p:cNvGrpSpPr>
            <a:grpSpLocks noChangeAspect="1"/>
          </p:cNvGrpSpPr>
          <p:nvPr userDrawn="1"/>
        </p:nvGrpSpPr>
        <p:grpSpPr>
          <a:xfrm>
            <a:off x="10373360" y="0"/>
            <a:ext cx="991870" cy="1113155"/>
            <a:chOff x="8425" y="4246"/>
            <a:chExt cx="2350" cy="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>
              <a:extLst>
                <a:ext uri="{CDFE0825-6DEF-4EF5-8246-60DE8C826C90}">
                  <a14:imgProps xmlns:a14="http://schemas.microsoft.com/office/drawing/2010/main">
                    <a14:imgLayer r:embed="rId6">
                      <a14:imgEffect name="7"/>
                    </a14:imgLayer>
                  </a14:imgProps>
                </a:ext>
              </a:extLst>
            </a:blip>
            <a:srcRect l="8122" t="2906" r="9618" b="4971"/>
            <a:stretch>
              <a:fillRect/>
            </a:stretch>
          </p:blipFill>
          <p:spPr>
            <a:xfrm>
              <a:off x="8425" y="4246"/>
              <a:ext cx="2350" cy="2638"/>
            </a:xfrm>
            <a:prstGeom prst="rect">
              <a:avLst/>
            </a:prstGeom>
            <a:noFill/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print">
              <a:lum bright="7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22" t="2906" r="9618" b="56795"/>
            <a:stretch>
              <a:fillRect/>
            </a:stretch>
          </p:blipFill>
          <p:spPr>
            <a:xfrm>
              <a:off x="8425" y="4246"/>
              <a:ext cx="2350" cy="1154"/>
            </a:xfrm>
            <a:prstGeom prst="rect">
              <a:avLst/>
            </a:prstGeom>
            <a:noFill/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>
                <a:ea typeface="汉仪旗黑-55简" panose="00020600040101010101" charset="-122"/>
              </a:defRPr>
            </a:lvl1pPr>
            <a:lvl2pPr marL="685800" indent="-228600">
              <a:defRPr spc="300">
                <a:ea typeface="汉仪旗黑-55简" panose="00020600040101010101" charset="-122"/>
              </a:defRPr>
            </a:lvl2pPr>
            <a:lvl3pPr marL="1143000" indent="-228600">
              <a:defRPr spc="300">
                <a:ea typeface="汉仪旗黑-55简" panose="00020600040101010101" charset="-122"/>
              </a:defRPr>
            </a:lvl3pPr>
            <a:lvl4pPr marL="1600200" indent="-228600">
              <a:defRPr spc="300">
                <a:ea typeface="汉仪旗黑-55简" panose="00020600040101010101" charset="-122"/>
              </a:defRPr>
            </a:lvl4pPr>
            <a:lvl5pPr marL="2057400" indent="-228600">
              <a:defRPr spc="300"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>
              <a:defRPr>
                <a:ea typeface="汉仪旗黑-55简" panose="00020600040101010101" charset="-122"/>
              </a:defRPr>
            </a:lvl1pPr>
            <a:lvl2pPr>
              <a:defRPr>
                <a:ea typeface="汉仪旗黑-55简" panose="00020600040101010101" charset="-122"/>
              </a:defRPr>
            </a:lvl2pPr>
            <a:lvl3pPr>
              <a:defRPr>
                <a:ea typeface="汉仪旗黑-55简" panose="00020600040101010101" charset="-122"/>
              </a:defRPr>
            </a:lvl3pPr>
            <a:lvl4pPr>
              <a:defRPr>
                <a:ea typeface="汉仪旗黑-55简" panose="00020600040101010101" charset="-122"/>
              </a:defRPr>
            </a:lvl4pPr>
            <a:lvl5pPr>
              <a:defRPr>
                <a:ea typeface="汉仪旗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>
                <a:ea typeface="汉仪旗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ags" Target="../tags/tag57.xml"/><Relationship Id="rId20" Type="http://schemas.openxmlformats.org/officeDocument/2006/relationships/tags" Target="../tags/tag58.xml"/><Relationship Id="rId21" Type="http://schemas.openxmlformats.org/officeDocument/2006/relationships/tags" Target="../tags/tag59.xml"/><Relationship Id="rId22" Type="http://schemas.openxmlformats.org/officeDocument/2006/relationships/tags" Target="../tags/tag60.xml"/><Relationship Id="rId23" Type="http://schemas.openxmlformats.org/officeDocument/2006/relationships/tags" Target="../tags/tag61.xml"/><Relationship Id="rId24" Type="http://schemas.openxmlformats.org/officeDocument/2006/relationships/tags" Target="../tags/tag62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4EA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旗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旗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旗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ech-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5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80000" y="-1080000"/>
            <a:ext cx="3600000" cy="360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40000" y="4680000"/>
            <a:ext cx="2880000" cy="2880000"/>
          </a:xfrm>
          <a:prstGeom prst="ellipse">
            <a:avLst/>
          </a:prstGeom>
          <a:solidFill>
            <a:srgbClr val="1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0000" y="2520000"/>
            <a:ext cx="1800000" cy="18000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000" y="1080000"/>
            <a:ext cx="1152000" cy="288000"/>
          </a:xfrm>
          <a:prstGeom prst="roundRect">
            <a:avLst>
              <a:gd name="adj" fmla="val 10000"/>
            </a:avLst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项目进展汇报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620000"/>
            <a:ext cx="7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</a:rPr>
              <a:t>智能会议系统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0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B4D0"/>
                </a:solidFill>
                <a:latin typeface="微软雅黑"/>
              </a:rPr>
              <a:t>飞书为入口 / AI主持人为中枢 / 全链路无人值守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0000" y="3204000"/>
            <a:ext cx="1620000" cy="0"/>
          </a:xfrm>
          <a:prstGeom prst="line">
            <a:avLst/>
          </a:prstGeom>
          <a:ln w="38100">
            <a:solidFill>
              <a:srgbClr val="16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100000" y="1800000"/>
            <a:ext cx="3060000" cy="3060000"/>
          </a:xfrm>
          <a:prstGeom prst="ellipse">
            <a:avLst/>
          </a:prstGeom>
          <a:solidFill>
            <a:srgbClr val="1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68000" y="2268000"/>
            <a:ext cx="2160000" cy="2160000"/>
          </a:xfrm>
          <a:prstGeom prst="ellipse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48000" y="2808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000" y="342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B4D0"/>
                </a:solidFill>
                <a:latin typeface="微软雅黑"/>
              </a:rPr>
              <a:t>整体进度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048000"/>
            <a:ext cx="12167999" cy="792000"/>
          </a:xfrm>
          <a:prstGeom prst="rect">
            <a:avLst/>
          </a:prstGeom>
          <a:solidFill>
            <a:srgbClr val="0A0F1A">
              <a:alpha val="6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6192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微软雅黑"/>
              </a:rPr>
              <a:t>汇报人：开发团队  |  2026年5月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6192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微软雅黑"/>
              </a:rPr>
              <a:t>版本 v1.0  |  机密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abstr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7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00000" cy="6840000"/>
          </a:xfrm>
          <a:prstGeom prst="rect">
            <a:avLst/>
          </a:prstGeom>
          <a:solidFill>
            <a:srgbClr val="1A1F2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980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700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/>
              </a:rPr>
              <a:t>汇报目录</a:t>
            </a:r>
          </a:p>
        </p:txBody>
      </p:sp>
      <p:sp>
        <p:nvSpPr>
          <p:cNvPr id="7" name="Oval 6"/>
          <p:cNvSpPr/>
          <p:nvPr/>
        </p:nvSpPr>
        <p:spPr>
          <a:xfrm>
            <a:off x="4320000" y="1260000"/>
            <a:ext cx="576000" cy="576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0" y="1368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0" y="126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/>
              </a:rPr>
              <a:t>用户体验旅程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0" y="1584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/>
              </a:rPr>
              <a:t>一场会议的完整体验 —— 核心主图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20000" y="2052000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320000" y="2268000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0" y="2376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0000" y="226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/>
              </a:rPr>
              <a:t>功能进度矩阵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0000" y="259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/>
              </a:rPr>
              <a:t>18个功能点开发状态总览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20000" y="3060000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20000" y="3276000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0" y="3384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0000" y="3276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/>
              </a:rPr>
              <a:t>数据飞轮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000" y="3600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/>
              </a:rPr>
              <a:t>永不停歇的闭环设计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20000" y="4068000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320000" y="4283999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0" y="4392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4283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/>
              </a:rPr>
              <a:t>传统 vs 智能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0000" y="460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/>
              </a:rPr>
              <a:t>AI 做掉 90% 运营工作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20000" y="5075999"/>
            <a:ext cx="4860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320000" y="5292000"/>
            <a:ext cx="576000" cy="576000"/>
          </a:xfrm>
          <a:prstGeom prst="ellipse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0" y="5400000"/>
            <a:ext cx="57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5E8F"/>
                </a:solidFill>
                <a:latin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0000" y="529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微软雅黑"/>
              </a:rPr>
              <a:t>后续计划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0000" y="5616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/>
              </a:rPr>
              <a:t>2个月/6个月里程碑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mee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8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1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/>
              </a:rPr>
              <a:t>01  用户体验旅程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648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一场综合管理会的完整体验：人只需到场、发言、决策，其余全部由系统自动完成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1368000"/>
            <a:ext cx="1655999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000" y="1368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000" y="1512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/>
              </a:rPr>
              <a:t>会前24h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1800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未开始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2088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人的动作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231999"/>
            <a:ext cx="1439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微软雅黑"/>
              </a:rPr>
              <a:t>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6000" y="2628000"/>
            <a:ext cx="1440000" cy="0"/>
          </a:xfrm>
          <a:prstGeom prst="line">
            <a:avLst/>
          </a:prstGeom>
          <a:ln w="25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6000" y="2700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系统动作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2844000"/>
            <a:ext cx="1439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自动邀约
卡片推送
参会确认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8000" y="1368000"/>
            <a:ext cx="1655999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48000" y="1368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56000" y="1512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/>
              </a:rPr>
              <a:t>会前10min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0" y="1800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未开始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6000" y="2088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人的动作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6000" y="2231999"/>
            <a:ext cx="1439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微软雅黑"/>
              </a:rPr>
              <a:t>签到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56000" y="2628000"/>
            <a:ext cx="1439999" cy="0"/>
          </a:xfrm>
          <a:prstGeom prst="line">
            <a:avLst/>
          </a:prstGeom>
          <a:ln w="25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56000" y="2700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系统动作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6000" y="2844000"/>
            <a:ext cx="1439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盘点卡片
声纹检测
进入会议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8000" y="1368000"/>
            <a:ext cx="1655999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48000" y="1368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6000" y="1512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/>
              </a:rPr>
              <a:t>会中60min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0000" y="1800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进行中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6000" y="2088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人的动作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2231999"/>
            <a:ext cx="1439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微软雅黑"/>
              </a:rPr>
              <a:t>发言
决策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56000" y="2628000"/>
            <a:ext cx="1439999" cy="0"/>
          </a:xfrm>
          <a:prstGeom prst="line">
            <a:avLst/>
          </a:prstGeom>
          <a:ln w="25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56000" y="2700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系统动作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6000" y="2844000"/>
            <a:ext cx="1439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AI主持
实时转写+声纹
议题切换
时间提醒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48000" y="1368000"/>
            <a:ext cx="1655999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48000" y="1368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6000" y="1512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/>
              </a:rPr>
              <a:t>会后5min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80000" y="1800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进行中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6000" y="2088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人的动作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6000" y="2231999"/>
            <a:ext cx="1439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微软雅黑"/>
              </a:rPr>
              <a:t>无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56000" y="2628000"/>
            <a:ext cx="1439999" cy="0"/>
          </a:xfrm>
          <a:prstGeom prst="line">
            <a:avLst/>
          </a:prstGeom>
          <a:ln w="25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56000" y="2700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系统动作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6000" y="2844000"/>
            <a:ext cx="1439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纪要生成
飞书文档
待办提取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48000" y="1368000"/>
            <a:ext cx="1655999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848000" y="1368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6000" y="1512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/>
              </a:rPr>
              <a:t>会后两周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80000" y="1800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未开始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6000" y="2088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人的动作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6000" y="2231999"/>
            <a:ext cx="1439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微软雅黑"/>
              </a:rPr>
              <a:t>点完成
/延期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56000" y="2628000"/>
            <a:ext cx="1440000" cy="0"/>
          </a:xfrm>
          <a:prstGeom prst="line">
            <a:avLst/>
          </a:prstGeom>
          <a:ln w="25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56000" y="2700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系统动作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6000" y="2844000"/>
            <a:ext cx="1439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每日提醒
到期催办
延期上报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48000" y="1368000"/>
            <a:ext cx="1655999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48000" y="1368000"/>
            <a:ext cx="1655999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56000" y="1512000"/>
            <a:ext cx="1439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微软雅黑"/>
              </a:rPr>
              <a:t>下次会议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80000" y="1800000"/>
            <a:ext cx="792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未开始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000" y="2088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人的动作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56000" y="2231999"/>
            <a:ext cx="1439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微软雅黑"/>
              </a:rPr>
              <a:t>无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756000" y="2628000"/>
            <a:ext cx="1440000" cy="0"/>
          </a:xfrm>
          <a:prstGeom prst="line">
            <a:avLst/>
          </a:prstGeom>
          <a:ln w="25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756000" y="2700000"/>
            <a:ext cx="143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B5E8F"/>
                </a:solidFill>
                <a:latin typeface="微软雅黑"/>
              </a:rPr>
              <a:t>系统动作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56000" y="2844000"/>
            <a:ext cx="1439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闭环通报
待办承接
循环重启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352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88"/>
                </a:solidFill>
                <a:latin typeface="微软雅黑"/>
              </a:rPr>
              <a:t>整体进度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8000" y="3780000"/>
            <a:ext cx="10800000" cy="1620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8000" y="3780000"/>
            <a:ext cx="864000" cy="1620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512000" y="3780000"/>
            <a:ext cx="1295999" cy="162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808000" y="3780000"/>
            <a:ext cx="8640000" cy="162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8000" y="4031999"/>
            <a:ext cx="125999" cy="125999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999" y="4031999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已完成</a:t>
            </a:r>
          </a:p>
        </p:txBody>
      </p:sp>
      <p:sp>
        <p:nvSpPr>
          <p:cNvPr id="68" name="Oval 67"/>
          <p:cNvSpPr/>
          <p:nvPr/>
        </p:nvSpPr>
        <p:spPr>
          <a:xfrm>
            <a:off x="1980000" y="4031999"/>
            <a:ext cx="125999" cy="125999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60000" y="4031999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进行中/开发中</a:t>
            </a:r>
          </a:p>
        </p:txBody>
      </p:sp>
      <p:sp>
        <p:nvSpPr>
          <p:cNvPr id="70" name="Oval 69"/>
          <p:cNvSpPr/>
          <p:nvPr/>
        </p:nvSpPr>
        <p:spPr>
          <a:xfrm>
            <a:off x="3420000" y="4031999"/>
            <a:ext cx="125999" cy="125999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00000" y="4031999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E293B"/>
                </a:solidFill>
                <a:latin typeface="微软雅黑"/>
              </a:rPr>
              <a:t>未开始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/>
              </a:rPr>
              <a:t>&gt;&gt;&gt; 人只在&amp;ldquo;发言决策&amp;rdquo;环节有操作，系统覆盖 90% 的会议运营工作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/>
              </a:rPr>
              <a:t>状态：整体进度 20%。会中环节最成熟(60%)，会前/会后跟踪待建设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abstr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8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1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/>
              </a:rPr>
              <a:t>02  功能进度矩阵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648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18个功能点按6个阶段拆解，一页看清&amp;ldquo;做到哪了&amp;rdquo;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0000" y="1368000"/>
          <a:ext cx="10728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960000"/>
                <a:gridCol w="2448000"/>
                <a:gridCol w="2520000"/>
              </a:tblGrid>
              <a:tr h="24631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功能点</a:t>
                      </a: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4B5E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完成度</a:t>
                      </a:r>
                    </a:p>
                  </a:txBody>
                  <a:tcPr>
                    <a:solidFill>
                      <a:srgbClr val="4B5E8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会前24h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自动创建会议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会前24h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飞书邀约卡片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会前24h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参会确认+关键人判断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会前24h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日历+会议室预约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会前10min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盘点卡片+签到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AI自动开场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会议检点点名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上次待办通报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  <a:latin typeface="微软雅黑"/>
                        </a:rPr>
                        <a:t>开发中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议题切换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实时ASR+声纹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  <a:latin typeface="微软雅黑"/>
                        </a:rPr>
                        <a:t>进行中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议题时间提醒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  <a:latin typeface="微软雅黑"/>
                        </a:rPr>
                        <a:t>部分完成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议题超时自动切换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结束播报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7AE60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会后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纪要生成+飞书文档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39C12"/>
                          </a:solidFill>
                          <a:latin typeface="微软雅黑"/>
                        </a:rPr>
                        <a:t>进行中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待办提取+飞书任务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会后两周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催办提醒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4631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会后两周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延期上报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下次会议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闭环通报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A0A0A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94958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/>
              </a:rPr>
              <a:t>&gt;&gt;&gt; 整体进度 20%。会中环节最成熟(7/7项有进展)，会前和会后跟踪为0，是下一阶段重点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/>
              </a:rPr>
              <a:t>统计截至 2026年5月14日 | 已完成=7项 | 开发中=4项 | 未开始=7项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-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7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1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/>
              </a:rPr>
              <a:t>03  数据飞轮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648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会议不再是孤立事件，而是永续循环的闭环——每次会议都对上次有交代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0000" y="3420000"/>
            <a:ext cx="9288000" cy="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3999" y="1980000"/>
            <a:ext cx="0" cy="2880000"/>
          </a:xfrm>
          <a:prstGeom prst="line">
            <a:avLst/>
          </a:prstGeom>
          <a:ln w="381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15999" y="2052000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15999" y="2052000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999" y="21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</a:rPr>
              <a:t>会议召开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87999" y="21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999" y="2484000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/>
              </a:rPr>
              <a:t>AI主持/转写/计时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3999" y="3851999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3999" y="3851999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7999" y="39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</a:rPr>
              <a:t>纪要生成
待办提取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6000" y="39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7999" y="4283999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/>
              </a:rPr>
              <a:t>LLM生成/飞书文档/任务创建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5999" y="3851999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15999" y="3851999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9999" y="39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</a:rPr>
              <a:t>待办跟踪
催办提醒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7999" y="39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9999" y="4283999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/>
              </a:rPr>
              <a:t>每日提醒/到期催办/延期上报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5999" y="3851999"/>
            <a:ext cx="2700000" cy="93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75999" y="3851999"/>
            <a:ext cx="2700000" cy="432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9999" y="3960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微软雅黑"/>
              </a:rPr>
              <a:t>下次会议
闭环通报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7999" y="3960000"/>
            <a:ext cx="648000" cy="180000"/>
          </a:xfrm>
          <a:prstGeom prst="roundRect">
            <a:avLst>
              <a:gd name="adj" fmla="val 10000"/>
            </a:avLst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微软雅黑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9999" y="4283999"/>
            <a:ext cx="24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/>
              </a:rPr>
              <a:t>自动承接/待办通报/循环重启</a:t>
            </a:r>
          </a:p>
        </p:txBody>
      </p:sp>
      <p:sp>
        <p:nvSpPr>
          <p:cNvPr id="29" name="Oval 28"/>
          <p:cNvSpPr/>
          <p:nvPr/>
        </p:nvSpPr>
        <p:spPr>
          <a:xfrm>
            <a:off x="5075999" y="2412000"/>
            <a:ext cx="2015999" cy="2015999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35999" y="2772000"/>
            <a:ext cx="1296000" cy="129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35999" y="2988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5DFF"/>
                </a:solidFill>
                <a:latin typeface="微软雅黑"/>
              </a:rPr>
              <a:t>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5999" y="3456000"/>
            <a:ext cx="12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  <a:latin typeface="微软雅黑"/>
              </a:rPr>
              <a:t>整体进度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999" y="1512000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/>
              </a:rP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2000" y="3420000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5999" y="4932000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1999" y="3420000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5DFF"/>
                </a:solidFill>
                <a:latin typeface="微软雅黑"/>
              </a:rPr>
              <a:t>&lt;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/>
              </a:rPr>
              <a:t>&gt;&gt;&gt; 飞轮中心已完成 20%。&amp;ldquo;会议召开&amp;rdquo;和&amp;ldquo;纪要生成&amp;rdquo;是核心引擎，会前与会后跟踪是缺齿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/>
              </a:rPr>
              <a:t>设计理念：数据飞轮驱动永续循环 | 每个会议都是下次会议的前置输入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abstr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8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1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/>
              </a:rPr>
              <a:t>04  传统 vs 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648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5个维度对比，AI做掉了90%的会议运营工作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368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88888"/>
                </a:solidFill>
                <a:latin typeface="微软雅黑"/>
              </a:rPr>
              <a:t>传统会议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368000"/>
            <a:ext cx="49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5DFF"/>
                </a:solidFill>
                <a:latin typeface="微软雅黑"/>
              </a:rPr>
              <a:t>智能会议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" y="1908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/>
              </a:rPr>
              <a:t>会前准备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1800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1908000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人工发邀约、预约会议室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8000" y="1800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8000" y="1800000"/>
            <a:ext cx="54000" cy="648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1908000"/>
            <a:ext cx="45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系统自动创建+邀约+预约</a:t>
            </a:r>
          </a:p>
        </p:txBody>
      </p:sp>
      <p:sp>
        <p:nvSpPr>
          <p:cNvPr id="15" name="Oval 14"/>
          <p:cNvSpPr/>
          <p:nvPr/>
        </p:nvSpPr>
        <p:spPr>
          <a:xfrm>
            <a:off x="11124000" y="1980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" y="2772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/>
              </a:rPr>
              <a:t>会中主持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664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000" y="2772000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人工主持、计时、记录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8000" y="2664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8000" y="2664000"/>
            <a:ext cx="54000" cy="64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4000" y="2772000"/>
            <a:ext cx="45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AI主持+计时+实时转写</a:t>
            </a:r>
          </a:p>
        </p:txBody>
      </p:sp>
      <p:sp>
        <p:nvSpPr>
          <p:cNvPr id="22" name="Oval 21"/>
          <p:cNvSpPr/>
          <p:nvPr/>
        </p:nvSpPr>
        <p:spPr>
          <a:xfrm>
            <a:off x="11124000" y="2844000"/>
            <a:ext cx="144000" cy="144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000" y="3636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/>
              </a:rPr>
              <a:t>会后整理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" y="3528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3636000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人工写纪要、分发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8000" y="3528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8000" y="3528000"/>
            <a:ext cx="54000" cy="64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4000" y="3636000"/>
            <a:ext cx="45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LLM自动生成+飞书文档</a:t>
            </a:r>
          </a:p>
        </p:txBody>
      </p:sp>
      <p:sp>
        <p:nvSpPr>
          <p:cNvPr id="29" name="Oval 28"/>
          <p:cNvSpPr/>
          <p:nvPr/>
        </p:nvSpPr>
        <p:spPr>
          <a:xfrm>
            <a:off x="11124000" y="3708000"/>
            <a:ext cx="144000" cy="144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00" y="4500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/>
              </a:rPr>
              <a:t>待办跟踪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000" y="4392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0000" y="4500000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靠人记、靠人催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8000" y="4392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8000" y="4392000"/>
            <a:ext cx="54000" cy="648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4000" y="4500000"/>
            <a:ext cx="45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自动提取+自动催办+延期上报</a:t>
            </a:r>
          </a:p>
        </p:txBody>
      </p:sp>
      <p:sp>
        <p:nvSpPr>
          <p:cNvPr id="36" name="Oval 35"/>
          <p:cNvSpPr/>
          <p:nvPr/>
        </p:nvSpPr>
        <p:spPr>
          <a:xfrm>
            <a:off x="11124000" y="4572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00" y="5364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E293B"/>
                </a:solidFill>
                <a:latin typeface="微软雅黑"/>
              </a:rPr>
              <a:t>会议闭环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000" y="5256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0000" y="5364000"/>
            <a:ext cx="46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开完就散，下次从头来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8000" y="5256000"/>
            <a:ext cx="4968000" cy="6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8000" y="5256000"/>
            <a:ext cx="54000" cy="6480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4000" y="5364000"/>
            <a:ext cx="45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每次承接上次，永不遗忘</a:t>
            </a:r>
          </a:p>
        </p:txBody>
      </p:sp>
      <p:sp>
        <p:nvSpPr>
          <p:cNvPr id="43" name="Oval 42"/>
          <p:cNvSpPr/>
          <p:nvPr/>
        </p:nvSpPr>
        <p:spPr>
          <a:xfrm>
            <a:off x="11124000" y="5436000"/>
            <a:ext cx="144000" cy="144000"/>
          </a:xfrm>
          <a:prstGeom prst="ellipse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0000" y="55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ED6"/>
                </a:solidFill>
                <a:latin typeface="微软雅黑"/>
              </a:rPr>
              <a:t>&gt;&gt;&gt; 用户只需到场+发言+点&amp;ldquo;完成/延期&amp;rdquo;，其余全部由AI系统接管。人从&amp;ldquo;操作者&amp;rdquo;变成&amp;ldquo;决策者&amp;rdquo;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/>
              </a:rPr>
              <a:t>绿色=已完成(会中) | 黄色=进行中(会后) | 灰色=未开始(会前+跟踪+闭环)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abstr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8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7999" cy="1152000"/>
          </a:xfrm>
          <a:prstGeom prst="rect">
            <a:avLst/>
          </a:prstGeom>
          <a:solidFill>
            <a:srgbClr val="E8F0FE">
              <a:alpha val="9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1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6B"/>
                </a:solidFill>
                <a:latin typeface="微软雅黑"/>
              </a:rPr>
              <a:t>05  后续计划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648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/>
              </a:rPr>
              <a:t>分两阶段推进：2个月内补齐核心缺陷，6个月内完成全链路闭环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80000" y="1800000"/>
            <a:ext cx="10080000" cy="0"/>
          </a:xfrm>
          <a:prstGeom prst="line">
            <a:avLst/>
          </a:prstGeom>
          <a:ln w="25400">
            <a:solidFill>
              <a:srgbClr val="16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160000" y="1655999"/>
            <a:ext cx="288000" cy="288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0000" y="208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5DFF"/>
                </a:solidFill>
                <a:latin typeface="微软雅黑"/>
              </a:rPr>
              <a:t>2026年6月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2448000"/>
            <a:ext cx="2520000" cy="1980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16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4000" y="2592000"/>
            <a:ext cx="223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1">
                <a:solidFill>
                  <a:srgbClr val="1E293B"/>
                </a:solidFill>
                <a:latin typeface="微软雅黑"/>
              </a:rPr>
              <a:t>第一阶段目标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394958"/>
                </a:solidFill>
                <a:latin typeface="微软雅黑"/>
              </a:rPr>
              <a:t/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27AE60"/>
                </a:solidFill>
                <a:latin typeface="微软雅黑"/>
              </a:rPr>
              <a:t>[OK] 声纹识别补全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[OK] 待办提取+飞书任务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[OK] 会议纪要优化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[OK] ASR准确率提升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[OK] 全场景异常测试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394958"/>
                </a:solidFill>
                <a:latin typeface="微软雅黑"/>
              </a:rPr>
              <a:t/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65DFF"/>
                </a:solidFill>
                <a:latin typeface="微软雅黑"/>
              </a:rPr>
              <a:t>目标: 会中+会后核心闭环完成</a:t>
            </a:r>
          </a:p>
        </p:txBody>
      </p:sp>
      <p:sp>
        <p:nvSpPr>
          <p:cNvPr id="12" name="Oval 11"/>
          <p:cNvSpPr/>
          <p:nvPr/>
        </p:nvSpPr>
        <p:spPr>
          <a:xfrm>
            <a:off x="7200000" y="1655999"/>
            <a:ext cx="288000" cy="2880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0000" y="208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  <a:latin typeface="微软雅黑"/>
              </a:rPr>
              <a:t>2026年10月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0000" y="2448000"/>
            <a:ext cx="2520000" cy="19800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999" y="2592000"/>
            <a:ext cx="2232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1">
                <a:solidFill>
                  <a:srgbClr val="1E293B"/>
                </a:solidFill>
                <a:latin typeface="微软雅黑"/>
              </a:rPr>
              <a:t>第二阶段目标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394958"/>
                </a:solidFill>
                <a:latin typeface="微软雅黑"/>
              </a:rPr>
              <a:t/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 ] 会前自动创建会议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 ] 飞书邀约+参会确认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 ] 日历+会议室预约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 ] 待办催办+延期上报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微软雅黑"/>
              </a:rPr>
              <a:t>[ ] 下次会议闭环通报</a:t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394958"/>
                </a:solidFill>
                <a:latin typeface="微软雅黑"/>
              </a:rPr>
              <a:t/>
            </a:r>
          </a:p>
          <a:p>
            <a:pPr>
              <a:lnSpc>
                <a:spcPts val="1500"/>
              </a:lnSpc>
              <a:spcAft>
                <a:spcPts val="200"/>
              </a:spcAft>
            </a:pPr>
            <a:r>
              <a:rPr sz="1000" b="0">
                <a:solidFill>
                  <a:srgbClr val="F39C12"/>
                </a:solidFill>
                <a:latin typeface="微软雅黑"/>
              </a:rPr>
              <a:t>目标: 全链路无人值守闭环完成</a:t>
            </a:r>
          </a:p>
        </p:txBody>
      </p:sp>
      <p:sp>
        <p:nvSpPr>
          <p:cNvPr id="16" name="Oval 15"/>
          <p:cNvSpPr/>
          <p:nvPr/>
        </p:nvSpPr>
        <p:spPr>
          <a:xfrm>
            <a:off x="11160000" y="1655999"/>
            <a:ext cx="288000" cy="2880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20000" y="208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微软雅黑"/>
              </a:rPr>
              <a:t>2027年+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0000" y="259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/>
              </a:rPr>
              <a:t>多场景适配
组织级推广
数据分析与洞察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0000" y="4140000"/>
            <a:ext cx="2520000" cy="360000"/>
          </a:xfrm>
          <a:prstGeom prst="roundRect">
            <a:avLst>
              <a:gd name="adj" fmla="val 10000"/>
            </a:avLst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当前进度: 20%  |  重点: 声纹+待办+纪要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888888"/>
                </a:solidFill>
                <a:latin typeface="微软雅黑"/>
              </a:rPr>
              <a:t>时间线基于开发团队三人(阿统/阿品/阿栈)并行开发预估 | 视资源投入可调整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ai-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7999" cy="68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7999" cy="6840000"/>
          </a:xfrm>
          <a:prstGeom prst="rect">
            <a:avLst/>
          </a:prstGeom>
          <a:solidFill>
            <a:srgbClr val="0D1422">
              <a:alpha val="5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26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对用户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800000"/>
            <a:ext cx="720000" cy="43200"/>
          </a:xfrm>
          <a:prstGeom prst="rect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0000" y="2015999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01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198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开会前不用准备</a:t>
            </a:r>
          </a:p>
        </p:txBody>
      </p:sp>
      <p:sp>
        <p:nvSpPr>
          <p:cNvPr id="9" name="Oval 8"/>
          <p:cNvSpPr/>
          <p:nvPr/>
        </p:nvSpPr>
        <p:spPr>
          <a:xfrm>
            <a:off x="900000" y="2556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55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252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开会时只管说话</a:t>
            </a:r>
          </a:p>
        </p:txBody>
      </p:sp>
      <p:sp>
        <p:nvSpPr>
          <p:cNvPr id="12" name="Oval 11"/>
          <p:cNvSpPr/>
          <p:nvPr/>
        </p:nvSpPr>
        <p:spPr>
          <a:xfrm>
            <a:off x="900000" y="3096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开完会不用整理</a:t>
            </a:r>
          </a:p>
        </p:txBody>
      </p:sp>
      <p:sp>
        <p:nvSpPr>
          <p:cNvPr id="15" name="Oval 14"/>
          <p:cNvSpPr/>
          <p:nvPr/>
        </p:nvSpPr>
        <p:spPr>
          <a:xfrm>
            <a:off x="900000" y="3636000"/>
            <a:ext cx="180000" cy="180000"/>
          </a:xfrm>
          <a:prstGeom prst="ellipse">
            <a:avLst/>
          </a:prstGeom>
          <a:solidFill>
            <a:srgbClr val="16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363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000" y="360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待办自动找人/催/跟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0" y="126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对组织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0000" y="1800000"/>
            <a:ext cx="720000" cy="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0000" y="2015999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0000" y="201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8000" y="198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每次会议都对上次有交代</a:t>
            </a:r>
          </a:p>
        </p:txBody>
      </p:sp>
      <p:sp>
        <p:nvSpPr>
          <p:cNvPr id="23" name="Oval 22"/>
          <p:cNvSpPr/>
          <p:nvPr/>
        </p:nvSpPr>
        <p:spPr>
          <a:xfrm>
            <a:off x="4500000" y="2556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0000" y="255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8000" y="252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每个决议都有人跟到底</a:t>
            </a:r>
          </a:p>
        </p:txBody>
      </p:sp>
      <p:sp>
        <p:nvSpPr>
          <p:cNvPr id="26" name="Oval 25"/>
          <p:cNvSpPr/>
          <p:nvPr/>
        </p:nvSpPr>
        <p:spPr>
          <a:xfrm>
            <a:off x="4500000" y="3096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不再有开会/执行断层</a:t>
            </a:r>
          </a:p>
        </p:txBody>
      </p:sp>
      <p:sp>
        <p:nvSpPr>
          <p:cNvPr id="29" name="Oval 28"/>
          <p:cNvSpPr/>
          <p:nvPr/>
        </p:nvSpPr>
        <p:spPr>
          <a:xfrm>
            <a:off x="4500000" y="3636000"/>
            <a:ext cx="180000" cy="1800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0000" y="363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8000" y="360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会议资产可追溯可复用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0000" y="126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对效率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0000" y="1800000"/>
            <a:ext cx="720000" cy="43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00000" y="2015999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0000" y="2015999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8000" y="198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AI做掉90%运营工作</a:t>
            </a:r>
          </a:p>
        </p:txBody>
      </p:sp>
      <p:sp>
        <p:nvSpPr>
          <p:cNvPr id="37" name="Oval 36"/>
          <p:cNvSpPr/>
          <p:nvPr/>
        </p:nvSpPr>
        <p:spPr>
          <a:xfrm>
            <a:off x="8100000" y="2556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0000" y="255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8000" y="252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纪要5分钟自动生成</a:t>
            </a:r>
          </a:p>
        </p:txBody>
      </p:sp>
      <p:sp>
        <p:nvSpPr>
          <p:cNvPr id="40" name="Oval 39"/>
          <p:cNvSpPr/>
          <p:nvPr/>
        </p:nvSpPr>
        <p:spPr>
          <a:xfrm>
            <a:off x="8100000" y="3096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0000" y="309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8000" y="30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待办不再被遗忘</a:t>
            </a:r>
          </a:p>
        </p:txBody>
      </p:sp>
      <p:sp>
        <p:nvSpPr>
          <p:cNvPr id="43" name="Oval 42"/>
          <p:cNvSpPr/>
          <p:nvPr/>
        </p:nvSpPr>
        <p:spPr>
          <a:xfrm>
            <a:off x="8100000" y="3636000"/>
            <a:ext cx="180000" cy="18000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0000" y="3636000"/>
            <a:ext cx="1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8000" y="360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5E0"/>
                </a:solidFill>
                <a:latin typeface="微软雅黑"/>
              </a:rPr>
              <a:t>新人无需交接即可上手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000" y="46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思源黑体"/>
              </a:rPr>
              <a:t>&amp;ldquo;人只需要到场、发言、决策&amp;rdquo;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000" y="522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B4D0"/>
                </a:solidFill>
                <a:latin typeface="微软雅黑"/>
              </a:rPr>
              <a:t>从会议发起到待办落地跟踪，全链路无人值守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000" y="604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谢谢！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0" y="604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智能会议系统  /  让每一场会议都有交代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0.xml><?xml version="1.0" encoding="utf-8"?>
<p:tagLst xmlns:p="http://schemas.openxmlformats.org/presentationml/2006/main">
  <p:tag name="COMMONDATA" val="eyJoZGlkIjoiY2EzZGMyZjY1YTE1M2ExMzhhOWU4MTI5ZWFlZmRiODkifQ=="/>
  <p:tag name="resource_record_key" val="{&quot;13&quot;:[4364915,4364928,4364924,4722044,4519452,20419712,4364942],&quot;29&quot;:[50000049,50000076,50000031],&quot;65&quot;:[20205176],&quot;70&quot;:[3315601,3402935,3426754,3332761,3312621,3314434,3321866,3314659,3315984,3312359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旗黑-55简"/>
        <a:cs typeface=""/>
      </a:majorFont>
      <a:minorFont>
        <a:latin typeface="Arial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75W"/>
        <a:ea typeface=""/>
        <a:cs typeface=""/>
        <a:font script="Jpan" typeface="ＭＳ Ｐゴシック"/>
        <a:font script="Hang" typeface="맑은 고딕"/>
        <a:font script="Hans" typeface="汉仪旗黑-55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1092</Words>
  <Application>WPS 演示</Application>
  <PresentationFormat>宽屏</PresentationFormat>
  <Paragraphs>114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6" baseType="lpstr">
      <vt:lpstr>Arial</vt:lpstr>
      <vt:lpstr>宋体</vt:lpstr>
      <vt:lpstr>Wingdings</vt:lpstr>
      <vt:lpstr>汉仪旗黑-55简</vt:lpstr>
      <vt:lpstr>Wingdings</vt:lpstr>
      <vt:lpstr>汉仪雅酷黑 75W</vt:lpstr>
      <vt:lpstr>微软雅黑</vt:lpstr>
      <vt:lpstr>方正兰亭黑简体</vt:lpstr>
      <vt:lpstr>黑体</vt:lpstr>
      <vt:lpstr>Calibri</vt:lpstr>
      <vt:lpstr>Arial</vt:lpstr>
      <vt:lpstr>Noto Sans Symbols</vt:lpstr>
      <vt:lpstr>Saturday Sans Regular</vt:lpstr>
      <vt:lpstr>Source Han Sans</vt:lpstr>
      <vt:lpstr>汉仪旗黑Y3-35简</vt:lpstr>
      <vt:lpstr>Arial Unicode MS</vt:lpstr>
      <vt:lpstr>汉仪旗黑-55简</vt:lpstr>
      <vt:lpstr>标准粗黑</vt:lpstr>
      <vt:lpstr>汉仪力量黑简</vt:lpstr>
      <vt:lpstr>方正清仿宋 简 Bold</vt:lpstr>
      <vt:lpstr>Calibri</vt:lpstr>
      <vt:lpstr>Courier New</vt:lpstr>
      <vt:lpstr>Times New Roman TUR</vt:lpstr>
      <vt:lpstr>Times New Roman</vt:lpstr>
      <vt:lpstr>Melanie BT Std Roman</vt:lpstr>
      <vt:lpstr>方正兰亭粗黑_GBK</vt:lpstr>
      <vt:lpstr>Hiragino Sans GB W6</vt:lpstr>
      <vt:lpstr>VW Headline OT-Book</vt:lpstr>
      <vt:lpstr>汉仪中黑简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123</dc:creator>
  <cp:lastModifiedBy>灰菜</cp:lastModifiedBy>
  <cp:revision>208</cp:revision>
  <dcterms:created xsi:type="dcterms:W3CDTF">2019-06-19T02:08:00Z</dcterms:created>
  <dcterms:modified xsi:type="dcterms:W3CDTF">2025-09-03T07:23:41Z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4F648A00B1B24359AE58BB1130BE42EC_13</vt:lpwstr>
  </property>
  <property fmtid="{D5CDD505-2E9C-101B-9397-08002B2CF9AE}" pid="4" name="KSOTemplateUUID">
    <vt:lpwstr>v1.0_mb_AWtQxT0W98raguoOyhJU1w==</vt:lpwstr>
  </property>
</Properties>
</file>