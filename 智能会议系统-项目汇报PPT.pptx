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67870" cy="6839585"/>
  <p:notesSz cx="6858000" cy="9144000"/>
  <p:embeddedFontLst>
    <p:embeddedFont>
      <p:font typeface="汉仪旗黑-55简" panose="00020600040101010101" charset="-122"/>
      <p:regular r:id="rId17"/>
    </p:embeddedFont>
    <p:embeddedFont>
      <p:font typeface="汉仪雅酷黑 75W" panose="020B0804020202020204" charset="-122"/>
      <p:bold r:id="rId18"/>
    </p:embeddedFont>
    <p:embeddedFont>
      <p:font typeface="微软雅黑" panose="020B0503020204020204" charset="-122"/>
      <p:regular r:id="rId19"/>
    </p:embeddedFont>
  </p:embeddedFontLst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3" pos="7488" userDrawn="1">
          <p15:clr>
            <a:srgbClr val="A4A3A4"/>
          </p15:clr>
        </p15:guide>
        <p15:guide id="4" pos="3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483810881" name="WPS_1679281038" initials="W" lastIdx="1" clrIdx="2"/>
  <p:cmAuthor id="1" name="123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AB8D"/>
    <a:srgbClr val="AA6500"/>
    <a:srgbClr val="475987"/>
    <a:srgbClr val="D2DDF5"/>
    <a:srgbClr val="FFFFFF"/>
    <a:srgbClr val="DFC2AD"/>
    <a:srgbClr val="EAEFFA"/>
    <a:srgbClr val="E3E9DC"/>
    <a:srgbClr val="4B5E8F"/>
    <a:srgbClr val="394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5"/>
        <p:guide pos="7488"/>
        <p:guide pos="3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63.xml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rPr>
            </a:fld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rPr>
            </a:fld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microsoft.com/office/2007/relationships/hdphoto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0">
            <a:off x="4086860" y="598170"/>
            <a:ext cx="6286500" cy="147955"/>
            <a:chOff x="6142" y="924"/>
            <a:chExt cx="9900" cy="233"/>
          </a:xfrm>
        </p:grpSpPr>
        <p:grpSp>
          <p:nvGrpSpPr>
            <p:cNvPr id="5" name="组合 4"/>
            <p:cNvGrpSpPr/>
            <p:nvPr/>
          </p:nvGrpSpPr>
          <p:grpSpPr>
            <a:xfrm>
              <a:off x="15633" y="924"/>
              <a:ext cx="409" cy="233"/>
              <a:chOff x="886" y="808"/>
              <a:chExt cx="756" cy="430"/>
            </a:xfrm>
          </p:grpSpPr>
          <p:sp>
            <p:nvSpPr>
              <p:cNvPr id="7" name="燕尾形 6"/>
              <p:cNvSpPr/>
              <p:nvPr/>
            </p:nvSpPr>
            <p:spPr>
              <a:xfrm>
                <a:off x="886" y="808"/>
                <a:ext cx="430" cy="430"/>
              </a:xfrm>
              <a:prstGeom prst="chevron">
                <a:avLst/>
              </a:prstGeom>
              <a:solidFill>
                <a:srgbClr val="313D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  <p:sp>
            <p:nvSpPr>
              <p:cNvPr id="8" name="燕尾形 7"/>
              <p:cNvSpPr/>
              <p:nvPr/>
            </p:nvSpPr>
            <p:spPr>
              <a:xfrm>
                <a:off x="1212" y="808"/>
                <a:ext cx="430" cy="430"/>
              </a:xfrm>
              <a:prstGeom prst="chevron">
                <a:avLst/>
              </a:prstGeom>
              <a:solidFill>
                <a:srgbClr val="4B5E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6142" y="1040"/>
              <a:ext cx="8760" cy="0"/>
            </a:xfrm>
            <a:prstGeom prst="line">
              <a:avLst/>
            </a:prstGeom>
            <a:ln w="12700">
              <a:solidFill>
                <a:srgbClr val="DFE4EA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 descr="7b0a202020202266696c746572223a202230220a7d0a"/>
          <p:cNvGrpSpPr>
            <a:grpSpLocks noChangeAspect="1"/>
          </p:cNvGrpSpPr>
          <p:nvPr userDrawn="1"/>
        </p:nvGrpSpPr>
        <p:grpSpPr>
          <a:xfrm>
            <a:off x="10373360" y="0"/>
            <a:ext cx="991870" cy="1113155"/>
            <a:chOff x="8425" y="4246"/>
            <a:chExt cx="2350" cy="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extLst>
                <a:ext uri="{CDFE0825-6DEF-4EF5-8246-60DE8C826C90}">
                  <a14:imgProps xmlns:a14="http://schemas.microsoft.com/office/drawing/2010/main">
                    <a14:imgLayer r:embed="rId6">
                      <a14:imgEffect name="7"/>
                    </a14:imgLayer>
                  </a14:imgProps>
                </a:ext>
              </a:extLst>
            </a:blip>
            <a:srcRect l="8122" t="2906" r="9618" b="4971"/>
            <a:stretch>
              <a:fillRect/>
            </a:stretch>
          </p:blipFill>
          <p:spPr>
            <a:xfrm>
              <a:off x="8425" y="4246"/>
              <a:ext cx="2350" cy="2638"/>
            </a:xfrm>
            <a:prstGeom prst="rect">
              <a:avLst/>
            </a:prstGeom>
            <a:noFill/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print">
              <a:lum bright="7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2906" r="9618" b="56795"/>
            <a:stretch>
              <a:fillRect/>
            </a:stretch>
          </p:blipFill>
          <p:spPr>
            <a:xfrm>
              <a:off x="8425" y="4246"/>
              <a:ext cx="2350" cy="1154"/>
            </a:xfrm>
            <a:prstGeom prst="rect">
              <a:avLst/>
            </a:prstGeom>
            <a:noFill/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ea typeface="汉仪旗黑-55简" panose="00020600040101010101" charset="-122"/>
              </a:defRPr>
            </a:lvl1pPr>
            <a:lvl2pPr marL="685800" indent="-228600">
              <a:defRPr spc="300">
                <a:ea typeface="汉仪旗黑-55简" panose="00020600040101010101" charset="-122"/>
              </a:defRPr>
            </a:lvl2pPr>
            <a:lvl3pPr marL="1143000" indent="-228600">
              <a:defRPr spc="300">
                <a:ea typeface="汉仪旗黑-55简" panose="00020600040101010101" charset="-122"/>
              </a:defRPr>
            </a:lvl3pPr>
            <a:lvl4pPr marL="1600200" indent="-228600">
              <a:defRPr spc="300">
                <a:ea typeface="汉仪旗黑-55简" panose="00020600040101010101" charset="-122"/>
              </a:defRPr>
            </a:lvl4pPr>
            <a:lvl5pPr marL="2057400" indent="-228600">
              <a:defRPr spc="300"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57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4EA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00160" y="120150"/>
            <a:ext cx="3600000" cy="36000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5965" y="3421475"/>
            <a:ext cx="2520000" cy="2520000"/>
          </a:xfrm>
          <a:prstGeom prst="ellipse">
            <a:avLst/>
          </a:prstGeom>
          <a:solidFill>
            <a:srgbClr val="24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0160" y="3360150"/>
            <a:ext cx="1440000" cy="1440000"/>
          </a:xfrm>
          <a:prstGeom prst="ellipse">
            <a:avLst/>
          </a:prstGeom>
          <a:solidFill>
            <a:srgbClr val="34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6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智能会议系统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0000" y="2592000"/>
            <a:ext cx="792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B4D0"/>
                </a:solidFill>
                <a:latin typeface="微软雅黑" panose="020B0503020204020204" charset="-122"/>
              </a:rPr>
              <a:t>AI主持人为中枢 · </a:t>
            </a:r>
            <a:r>
              <a:rPr lang="zh-CN" sz="1600" b="0">
                <a:solidFill>
                  <a:srgbClr val="A0B4D0"/>
                </a:solidFill>
                <a:latin typeface="微软雅黑" panose="020B0503020204020204" charset="-122"/>
              </a:rPr>
              <a:t>工程为骨架</a:t>
            </a:r>
            <a:r>
              <a:rPr sz="1600">
                <a:solidFill>
                  <a:srgbClr val="A0B4D0"/>
                </a:solidFill>
                <a:latin typeface="微软雅黑" panose="020B0503020204020204" charset="-122"/>
                <a:sym typeface="+mn-ea"/>
              </a:rPr>
              <a:t> · </a:t>
            </a:r>
            <a:r>
              <a:rPr sz="1600" b="0">
                <a:solidFill>
                  <a:srgbClr val="A0B4D0"/>
                </a:solidFill>
                <a:latin typeface="微软雅黑" panose="020B0503020204020204" charset="-122"/>
              </a:rPr>
              <a:t>全链路无人值守</a:t>
            </a:r>
            <a:endParaRPr sz="1600" b="0">
              <a:solidFill>
                <a:srgbClr val="A0B4D0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900000" y="3168000"/>
            <a:ext cx="2700000" cy="0"/>
          </a:xfrm>
          <a:prstGeom prst="line">
            <a:avLst/>
          </a:prstGeom>
          <a:ln w="38100">
            <a:solidFill>
              <a:srgbClr val="16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660160" y="2820150"/>
            <a:ext cx="3240000" cy="3240000"/>
          </a:xfrm>
          <a:prstGeom prst="ellipse">
            <a:avLst/>
          </a:prstGeom>
          <a:solidFill>
            <a:srgbClr val="24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0160" y="3360150"/>
            <a:ext cx="2160000" cy="216000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0160" y="400815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20%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20160" y="4619515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B4D0"/>
                </a:solidFill>
                <a:latin typeface="微软雅黑" panose="020B0503020204020204" charset="-122"/>
              </a:rPr>
              <a:t>整体进度</a:t>
            </a:r>
            <a:endParaRPr sz="1200" b="0">
              <a:solidFill>
                <a:srgbClr val="A0B4D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48000"/>
            <a:ext cx="12167999" cy="792000"/>
          </a:xfrm>
          <a:prstGeom prst="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6192000"/>
            <a:ext cx="432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汇报人：</a:t>
            </a:r>
            <a:r>
              <a:rPr lang="zh-CN" sz="1000" b="0">
                <a:solidFill>
                  <a:srgbClr val="888888"/>
                </a:solidFill>
                <a:latin typeface="微软雅黑" panose="020B0503020204020204" charset="-122"/>
              </a:rPr>
              <a:t>郭儒杰</a:t>
            </a:r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  |  2026年5月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" cy="6840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90" y="1979930"/>
            <a:ext cx="22802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CONTENTS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</a:rPr>
              <a:t>汇报目录</a:t>
            </a:r>
            <a:endParaRPr sz="14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0" y="1368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0000" y="126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用户体验旅程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20000" y="1584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一场会议的完整体验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220000" y="2052000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320000" y="22680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0" y="2376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0000" y="22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功能进度矩阵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0000" y="259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各模块开发状态总览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220000" y="3060000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320000" y="32760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0" y="3384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 panose="020B0503020204020204" charset="-122"/>
              </a:rPr>
              <a:t>03</a:t>
            </a:r>
            <a:endParaRPr sz="18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20000" y="327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数据飞轮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20000" y="360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永不停歇的闭环设计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220000" y="4068000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320000" y="4283999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0" y="4392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 panose="020B0503020204020204" charset="-122"/>
              </a:rPr>
              <a:t>04</a:t>
            </a:r>
            <a:endParaRPr sz="18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20000" y="4283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传统 vs 智能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20000" y="460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AI 做掉 90% 运营工作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220000" y="5075999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320000" y="52920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0" y="5400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 panose="020B0503020204020204" charset="-122"/>
              </a:rPr>
              <a:t>05</a:t>
            </a:r>
            <a:endParaRPr sz="18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20000" y="529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后续计划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20000" y="5616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下一步里程碑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0035" y="135890"/>
            <a:ext cx="1447800" cy="1181100"/>
          </a:xfrm>
          <a:prstGeom prst="rect">
            <a:avLst/>
          </a:prstGeom>
        </p:spPr>
      </p:pic>
      <p:sp>
        <p:nvSpPr>
          <p:cNvPr id="32" name="Oval 9"/>
          <p:cNvSpPr/>
          <p:nvPr/>
        </p:nvSpPr>
        <p:spPr>
          <a:xfrm>
            <a:off x="4320000" y="12266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10"/>
          <p:cNvSpPr txBox="1"/>
          <p:nvPr/>
        </p:nvSpPr>
        <p:spPr>
          <a:xfrm>
            <a:off x="4320000" y="1367620"/>
            <a:ext cx="57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 panose="020B0503020204020204" charset="-122"/>
              </a:rPr>
              <a:t>0</a:t>
            </a:r>
            <a:r>
              <a:rPr lang="en-US" sz="1800" b="1">
                <a:solidFill>
                  <a:srgbClr val="4B5E8F"/>
                </a:solidFill>
                <a:latin typeface="微软雅黑" panose="020B0503020204020204" charset="-122"/>
              </a:rPr>
              <a:t>1</a:t>
            </a:r>
            <a:endParaRPr lang="en-US" sz="18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126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panose="020B0503020204020204" charset="-122"/>
              </a:rPr>
              <a:t>01  用户体验旅程</a:t>
            </a:r>
            <a:endParaRPr sz="24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90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一场</a:t>
            </a:r>
            <a:r>
              <a:rPr lang="zh-CN" sz="1100" b="0">
                <a:solidFill>
                  <a:srgbClr val="1E293B"/>
                </a:solidFill>
                <a:latin typeface="微软雅黑" panose="020B0503020204020204" charset="-122"/>
              </a:rPr>
              <a:t>会议</a:t>
            </a:r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的完整体验：人只需到场、发言、决策，其余全部由系统自动完成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1655999" cy="2232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8000" y="1512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656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会前24h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0000" y="1944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未开始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6000" y="2268000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人的动作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6000" y="2448000"/>
            <a:ext cx="1439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人的动作
无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56000" y="2880000"/>
            <a:ext cx="144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6000" y="2951999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系统动作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6000" y="3131999"/>
            <a:ext cx="1439999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800" b="0">
                <a:solidFill>
                  <a:srgbClr val="1E293B"/>
                </a:solidFill>
                <a:latin typeface="微软雅黑" panose="020B0503020204020204" charset="-122"/>
              </a:rPr>
              <a:t>会议组织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自动邀约
卡片推送
参会确认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zh-CN" sz="800" b="0">
                <a:solidFill>
                  <a:srgbClr val="1E293B"/>
                </a:solidFill>
                <a:latin typeface="微软雅黑" panose="020B0503020204020204" charset="-122"/>
              </a:rPr>
              <a:t>创建</a:t>
            </a:r>
            <a:r>
              <a:rPr lang="zh-CN" sz="800" b="0">
                <a:solidFill>
                  <a:srgbClr val="1E293B"/>
                </a:solidFill>
                <a:latin typeface="微软雅黑" panose="020B0503020204020204" charset="-122"/>
              </a:rPr>
              <a:t>会议</a:t>
            </a:r>
            <a:endParaRPr lang="zh-CN"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48000" y="1512000"/>
            <a:ext cx="1655999" cy="2232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48000" y="1512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6000" y="1656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会前10min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80000" y="1944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未开始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56000" y="2268000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人的动作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6000" y="2448000"/>
            <a:ext cx="1439999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签到</a:t>
            </a:r>
            <a:r>
              <a:rPr lang="en-US" sz="1000" b="0">
                <a:solidFill>
                  <a:srgbClr val="1E293B"/>
                </a:solidFill>
                <a:latin typeface="微软雅黑" panose="020B0503020204020204" charset="-122"/>
              </a:rPr>
              <a:t>|</a:t>
            </a:r>
            <a:r>
              <a:rPr lang="zh-CN" altLang="en-US" sz="1000" b="0">
                <a:solidFill>
                  <a:srgbClr val="1E293B"/>
                </a:solidFill>
                <a:latin typeface="微软雅黑" panose="020B0503020204020204" charset="-122"/>
              </a:rPr>
              <a:t>请假</a:t>
            </a:r>
            <a:endParaRPr lang="zh-CN" altLang="en-US" sz="10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556000" y="2880000"/>
            <a:ext cx="1439999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56000" y="2951999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系统动作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55875" y="3131820"/>
            <a:ext cx="1370965" cy="6115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sz="800" b="0">
                <a:solidFill>
                  <a:srgbClr val="1E293B"/>
                </a:solidFill>
                <a:latin typeface="微软雅黑" panose="020B0503020204020204" charset="-122"/>
              </a:rPr>
              <a:t>会前</a:t>
            </a:r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盘点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zh-CN" sz="800" b="0">
                <a:solidFill>
                  <a:srgbClr val="1E293B"/>
                </a:solidFill>
                <a:latin typeface="微软雅黑" panose="020B0503020204020204" charset="-122"/>
              </a:rPr>
              <a:t>卡片推送</a:t>
            </a:r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
声纹检测
进入会议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48000" y="1512000"/>
            <a:ext cx="1655999" cy="2232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48000" y="1512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000" y="1656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会中60min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80000" y="1944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进行中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56000" y="2268000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人的动作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56000" y="2448000"/>
            <a:ext cx="1439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发言
决策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356000" y="2880000"/>
            <a:ext cx="1439999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56000" y="2951999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系统动作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56100" y="3131820"/>
            <a:ext cx="1377315" cy="61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AI主持
实时转写
声纹分离
议题切换
时间提醒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048000" y="1512000"/>
            <a:ext cx="1655999" cy="2232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48000" y="1512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6000" y="1656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会后5min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480000" y="1944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进行中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56000" y="2268000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人的动作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56000" y="2448000"/>
            <a:ext cx="1439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无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156000" y="2880000"/>
            <a:ext cx="1439999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56000" y="2951999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系统动作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55690" y="3131820"/>
            <a:ext cx="1440180" cy="61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纪要生成
飞书文档
待办提取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848000" y="1512000"/>
            <a:ext cx="1655999" cy="2232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48000" y="1512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6000" y="1656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会后两周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280000" y="1944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未开始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56000" y="2268000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人的动作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56000" y="2448000"/>
            <a:ext cx="1439999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000" b="0">
                <a:solidFill>
                  <a:srgbClr val="1E293B"/>
                </a:solidFill>
                <a:latin typeface="微软雅黑" panose="020B0503020204020204" charset="-122"/>
              </a:rPr>
              <a:t>确认</a:t>
            </a: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完成</a:t>
            </a:r>
            <a:r>
              <a:rPr lang="en-US" sz="1000" b="0">
                <a:solidFill>
                  <a:srgbClr val="1E293B"/>
                </a:solidFill>
                <a:latin typeface="微软雅黑" panose="020B0503020204020204" charset="-122"/>
              </a:rPr>
              <a:t>|</a:t>
            </a:r>
            <a:r>
              <a:rPr lang="zh-CN" sz="1000" b="0">
                <a:solidFill>
                  <a:srgbClr val="1E293B"/>
                </a:solidFill>
                <a:latin typeface="微软雅黑" panose="020B0503020204020204" charset="-122"/>
              </a:rPr>
              <a:t>申请</a:t>
            </a: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延期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7956000" y="2880000"/>
            <a:ext cx="144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956000" y="2951999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系统动作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55915" y="3131820"/>
            <a:ext cx="1440180" cy="61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每日提醒
到期催办
延期上报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648000" y="1512000"/>
            <a:ext cx="1655999" cy="2232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48000" y="1512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000" y="1656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下次会议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080000" y="1944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未开始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756000" y="2268000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人的动作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56000" y="2448000"/>
            <a:ext cx="1439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无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9756000" y="2880000"/>
            <a:ext cx="144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56000" y="2951999"/>
            <a:ext cx="1439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5E8F"/>
                </a:solidFill>
                <a:latin typeface="微软雅黑" panose="020B0503020204020204" charset="-122"/>
              </a:rPr>
              <a:t>系统动作</a:t>
            </a:r>
            <a:endParaRPr sz="9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756140" y="3131820"/>
            <a:ext cx="1440180" cy="61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闭环通报
待办承接
循环重启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8000" y="383861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88"/>
                </a:solidFill>
                <a:latin typeface="微软雅黑" panose="020B0503020204020204" charset="-122"/>
              </a:rPr>
              <a:t>整体进度</a:t>
            </a:r>
            <a:endParaRPr sz="9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48000" y="4031999"/>
            <a:ext cx="10800000" cy="1800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48000" y="4031999"/>
            <a:ext cx="864000" cy="1800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512000" y="4031999"/>
            <a:ext cx="1295999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808000" y="4031999"/>
            <a:ext cx="8640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8000" y="4320000"/>
            <a:ext cx="144000" cy="14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4000" y="432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已完成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980000" y="4320000"/>
            <a:ext cx="144000" cy="144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6000" y="4320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进行中/开发中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3420000" y="4320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36000" y="4320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未开始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40000" y="5580000"/>
            <a:ext cx="1080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panose="020B0503020204020204" charset="-122"/>
              </a:rPr>
              <a:t>&gt;&gt;&gt; 人只在发言决策环节有操作，系统覆盖 90% </a:t>
            </a:r>
            <a:r>
              <a:rPr lang="zh-CN" sz="1300" b="1">
                <a:solidFill>
                  <a:srgbClr val="00BED6"/>
                </a:solidFill>
                <a:latin typeface="微软雅黑" panose="020B0503020204020204" charset="-122"/>
              </a:rPr>
              <a:t>以上</a:t>
            </a:r>
            <a:r>
              <a:rPr sz="1300" b="1">
                <a:solidFill>
                  <a:srgbClr val="00BED6"/>
                </a:solidFill>
                <a:latin typeface="微软雅黑" panose="020B0503020204020204" charset="-122"/>
              </a:rPr>
              <a:t>的会议运营工作</a:t>
            </a:r>
            <a:endParaRPr sz="1300" b="1">
              <a:solidFill>
                <a:srgbClr val="00BED6"/>
              </a:solidFill>
              <a:latin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40000" y="6300000"/>
            <a:ext cx="1080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微软雅黑" panose="020B0503020204020204" charset="-122"/>
              </a:rPr>
              <a:t>状态：整体进度 20%。会中环节最成熟(60%)，会前/会后跟踪待建设</a:t>
            </a:r>
            <a:endParaRPr sz="100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126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panose="020B0503020204020204" charset="-122"/>
              </a:rPr>
              <a:t>02  功能进度矩阵</a:t>
            </a:r>
            <a:endParaRPr sz="24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18个功能点按6个阶段拆解，一页看清&amp;ldquo;做到哪了&amp;rdquo;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259660"/>
          <a:ext cx="10728000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470"/>
                <a:gridCol w="1123471"/>
                <a:gridCol w="1816360"/>
                <a:gridCol w="1598055"/>
                <a:gridCol w="1902131"/>
                <a:gridCol w="3164513"/>
              </a:tblGrid>
              <a:tr h="255789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000">
                          <a:solidFill>
                            <a:srgbClr val="FFFFFF"/>
                          </a:solidFill>
                          <a:latin typeface="微软雅黑" panose="020B0503020204020204" charset="-122"/>
                          <a:sym typeface="+mn-ea"/>
                        </a:rPr>
                        <a:t>会议</a:t>
                      </a:r>
                      <a:r>
                        <a:rPr sz="1000">
                          <a:solidFill>
                            <a:srgbClr val="FFFFFF"/>
                          </a:solidFill>
                          <a:latin typeface="微软雅黑" panose="020B0503020204020204" charset="-122"/>
                          <a:sym typeface="+mn-ea"/>
                        </a:rPr>
                        <a:t>阶段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会议节点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功能点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完成度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</a:tr>
              <a:tr h="255789"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自动创建会议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飞书邀约卡片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参会确认+关键人判断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日历+会议室预约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会前10min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盘点卡片+签到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rowSpan="7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AI自动开场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会议检点点名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上次待办通报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开发中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50%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议题切换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实时ASR+声纹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开发</a:t>
                      </a:r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中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60%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议题时间提醒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部分完成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50%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议题超时自动切换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结束播报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纪要生成+飞书文档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进行中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70%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待办提取+飞书任务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会后两周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催办提醒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会后两周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延期上报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98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下次</a:t>
                      </a: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会议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下次会议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闭环通报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5300" y="6307455"/>
            <a:ext cx="10800080" cy="311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panose="020B0503020204020204" charset="-122"/>
              </a:rPr>
              <a:t>&gt;&gt;&gt; 整体进度 20%。会中环节最成熟(7/7项有进展)，会前和会后跟踪为0，是下一阶段重点</a:t>
            </a:r>
            <a:endParaRPr sz="1300" b="1">
              <a:solidFill>
                <a:srgbClr val="00BED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126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panose="020B0503020204020204" charset="-122"/>
              </a:rPr>
              <a:t>03  数据飞轮</a:t>
            </a:r>
            <a:endParaRPr sz="24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会议不再是孤立事件，而是永续循环的闭环——每次会议都对上次有交代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440000" y="3420000"/>
            <a:ext cx="9288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3999" y="1980000"/>
            <a:ext cx="0" cy="28800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15999" y="2052000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5999" y="2052000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999" y="21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会议召开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87999" y="21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 panose="020B0503020204020204" charset="-122"/>
              </a:rPr>
              <a:t>50%</a:t>
            </a:r>
            <a:endParaRPr sz="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9999" y="2520000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 panose="020B0503020204020204" charset="-122"/>
              </a:rPr>
              <a:t>AI主持/转写/计时</a:t>
            </a:r>
            <a:endParaRPr sz="8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26949" y="3851999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83999" y="3851999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7999" y="39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纪要生成
待办提取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856000" y="39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 panose="020B0503020204020204" charset="-122"/>
              </a:rPr>
              <a:t>35%</a:t>
            </a:r>
            <a:endParaRPr sz="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27999" y="4320000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 panose="020B0503020204020204" charset="-122"/>
              </a:rPr>
              <a:t>LLM生成/飞书文档/任务创建</a:t>
            </a:r>
            <a:endParaRPr sz="8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15999" y="3851999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15999" y="3851999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9999" y="39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待办跟踪
催办提醒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87999" y="39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 panose="020B0503020204020204" charset="-122"/>
              </a:rPr>
              <a:t>0%</a:t>
            </a:r>
            <a:endParaRPr sz="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59999" y="4326985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 panose="020B0503020204020204" charset="-122"/>
              </a:rPr>
              <a:t>每日提醒/到期催办/延期上报</a:t>
            </a:r>
            <a:endParaRPr sz="8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375999" y="3851999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75999" y="3851999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9999" y="39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微软雅黑" panose="020B0503020204020204" charset="-122"/>
              </a:rPr>
              <a:t>下次会议
闭环通报</a:t>
            </a:r>
            <a:endParaRPr sz="11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47999" y="39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 panose="020B0503020204020204" charset="-122"/>
              </a:rPr>
              <a:t>0%</a:t>
            </a:r>
            <a:endParaRPr sz="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19999" y="4320000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 panose="020B0503020204020204" charset="-122"/>
              </a:rPr>
              <a:t>自动承接/待办通报/循环重启</a:t>
            </a:r>
            <a:endParaRPr sz="8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075999" y="2412000"/>
            <a:ext cx="2015999" cy="2015999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35999" y="2772000"/>
            <a:ext cx="1296000" cy="129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5999" y="2988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5DFF"/>
                </a:solidFill>
                <a:latin typeface="微软雅黑" panose="020B0503020204020204" charset="-122"/>
              </a:rPr>
              <a:t>20%</a:t>
            </a:r>
            <a:endParaRPr sz="22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35999" y="3456000"/>
            <a:ext cx="12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微软雅黑" panose="020B0503020204020204" charset="-122"/>
              </a:rPr>
              <a:t>整体进度</a:t>
            </a:r>
            <a:endParaRPr sz="8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03999" y="151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 panose="020B0503020204020204" charset="-122"/>
              </a:rPr>
              <a:t>↓</a:t>
            </a:r>
            <a:endParaRPr sz="14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63999" y="3311999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 panose="020B0503020204020204" charset="-122"/>
              </a:rPr>
              <a:t>→</a:t>
            </a:r>
            <a:endParaRPr sz="14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03999" y="4860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 panose="020B0503020204020204" charset="-122"/>
              </a:rPr>
              <a:t>↓</a:t>
            </a:r>
            <a:endParaRPr sz="14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43999" y="3311999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 panose="020B0503020204020204" charset="-122"/>
              </a:rPr>
              <a:t>←</a:t>
            </a:r>
            <a:endParaRPr sz="14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 panose="020B0503020204020204" charset="-122"/>
              </a:rPr>
              <a:t>设计理念：数据飞轮驱动永续循环 | 每个会议都是下次会议的前置输入</a:t>
            </a:r>
            <a:endParaRPr sz="80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126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panose="020B0503020204020204" charset="-122"/>
              </a:rPr>
              <a:t>04  传统 vs 智能</a:t>
            </a:r>
            <a:endParaRPr sz="24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5个维度对比，AI做掉了90%的会议运营工作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0340" y="1356815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88888"/>
                </a:solidFill>
                <a:latin typeface="微软雅黑" panose="020B0503020204020204" charset="-122"/>
              </a:rPr>
              <a:t>传统会议</a:t>
            </a:r>
            <a:endParaRPr sz="16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8340" y="1356815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5DFF"/>
                </a:solidFill>
                <a:latin typeface="微软雅黑" panose="020B0503020204020204" charset="-122"/>
              </a:rPr>
              <a:t>智能会议</a:t>
            </a:r>
            <a:endParaRPr sz="16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0000" y="1872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会前准备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0340" y="1752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" b="0">
              <a:solidFill>
                <a:srgbClr val="39495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0340" y="1860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人工发邀约、预约会议室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8340" y="1752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8340" y="1752815"/>
            <a:ext cx="54000" cy="576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4340" y="1860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系统自动创建+邀约+预约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304340" y="1968815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2664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会中主持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80340" y="2544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" b="0">
              <a:solidFill>
                <a:srgbClr val="39495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0340" y="2652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人工主持、计时、记录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8340" y="2544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8340" y="2544815"/>
            <a:ext cx="54000" cy="57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4340" y="2652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AI主持+计时+实时转写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304340" y="2760815"/>
            <a:ext cx="144000" cy="14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3456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会后整理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80340" y="3336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" b="0">
              <a:solidFill>
                <a:srgbClr val="39495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60340" y="3444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人工写纪要、分发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8340" y="3336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8340" y="3336815"/>
            <a:ext cx="54000" cy="57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4340" y="3444815"/>
            <a:ext cx="4608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LLM自动生成+</a:t>
            </a:r>
            <a:r>
              <a:rPr lang="zh-CN" sz="1100" b="0">
                <a:solidFill>
                  <a:srgbClr val="1E293B"/>
                </a:solidFill>
                <a:latin typeface="微软雅黑" panose="020B0503020204020204" charset="-122"/>
              </a:rPr>
              <a:t>自动</a:t>
            </a:r>
            <a:r>
              <a:rPr lang="zh-CN" sz="1100" b="0">
                <a:solidFill>
                  <a:srgbClr val="1E293B"/>
                </a:solidFill>
                <a:latin typeface="微软雅黑" panose="020B0503020204020204" charset="-122"/>
              </a:rPr>
              <a:t>分发</a:t>
            </a:r>
            <a:endParaRPr lang="zh-CN"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1304340" y="3552815"/>
            <a:ext cx="144000" cy="144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000" y="424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待办跟踪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80340" y="4128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" b="0">
              <a:solidFill>
                <a:srgbClr val="394958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60340" y="4236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靠人记、靠人催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8340" y="4128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8340" y="4128815"/>
            <a:ext cx="54000" cy="576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4340" y="4236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自动提取+自动催办+延期上报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304340" y="4344815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504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会议闭环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80340" y="4920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" b="0">
              <a:solidFill>
                <a:srgbClr val="394958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60340" y="5028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开完就散，下次从头来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8340" y="4920815"/>
            <a:ext cx="4968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8340" y="4920815"/>
            <a:ext cx="54000" cy="576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04340" y="5028815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每次承接上次，永不遗忘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1304340" y="5136815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0" y="5795900"/>
            <a:ext cx="1080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panose="020B0503020204020204" charset="-122"/>
              </a:rPr>
              <a:t>用户只需到场+发言，其余全部由AI系统接管。人从操作者变成决策者</a:t>
            </a:r>
            <a:endParaRPr sz="1300" b="1">
              <a:solidFill>
                <a:srgbClr val="00BED6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 panose="020B0503020204020204" charset="-122"/>
              </a:rPr>
              <a:t>绿色=已完成(会中) | 黄色=进行中(会后) | 灰色=未开始(会前+跟踪+闭环)</a:t>
            </a:r>
            <a:endParaRPr sz="80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126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panose="020B0503020204020204" charset="-122"/>
              </a:rPr>
              <a:t>05  后续计划</a:t>
            </a:r>
            <a:endParaRPr sz="24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分两阶段推进：2个月内补齐核心缺陷，6个月内完成全链路闭环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080000" y="1800000"/>
            <a:ext cx="10080000" cy="0"/>
          </a:xfrm>
          <a:prstGeom prst="line">
            <a:avLst/>
          </a:prstGeom>
          <a:ln w="25400">
            <a:solidFill>
              <a:srgbClr val="16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160000" y="1655999"/>
            <a:ext cx="288000" cy="288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0000" y="208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5DFF"/>
                </a:solidFill>
                <a:latin typeface="微软雅黑" panose="020B0503020204020204" charset="-122"/>
              </a:rPr>
              <a:t>2026年6月</a:t>
            </a:r>
            <a:endParaRPr sz="11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0135" y="2447925"/>
            <a:ext cx="2419350" cy="185928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4280" y="2592070"/>
            <a:ext cx="2275205" cy="1765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第一阶段目标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27AE60"/>
                </a:solidFill>
                <a:latin typeface="微软雅黑" panose="020B0503020204020204" charset="-122"/>
              </a:rPr>
              <a:t>[OK] 声纹识别补全</a:t>
            </a:r>
            <a:endParaRPr sz="1000" b="0">
              <a:solidFill>
                <a:srgbClr val="27AE60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[OK] 待办提取+飞书任务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[OK] 会议纪要优化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[OK] ASR准确率提升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[OK] 全场景异常测试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65DFF"/>
                </a:solidFill>
                <a:latin typeface="微软雅黑" panose="020B0503020204020204" charset="-122"/>
              </a:rPr>
              <a:t>目标: 会中+会后核心闭环完成</a:t>
            </a:r>
            <a:endParaRPr sz="1000" b="0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200000" y="1655999"/>
            <a:ext cx="288000" cy="288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0000" y="208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  <a:latin typeface="微软雅黑" panose="020B0503020204020204" charset="-122"/>
              </a:rPr>
              <a:t>2026年10月</a:t>
            </a:r>
            <a:endParaRPr sz="11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0130" y="2447925"/>
            <a:ext cx="2431415" cy="1859915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4275" y="2592070"/>
            <a:ext cx="2232025" cy="20643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第二阶段目标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 ] 会前自动创建会议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 ] 飞书邀约+参会确认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 ] 日历+会议室预约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 ] 待办催办+延期上报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[ ] 下次会议闭环通报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>
              <a:lnSpc>
                <a:spcPts val="1500"/>
              </a:lnSpc>
              <a:spcAft>
                <a:spcPts val="200"/>
              </a:spcAft>
            </a:pP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F39C12"/>
                </a:solidFill>
                <a:latin typeface="微软雅黑" panose="020B0503020204020204" charset="-122"/>
              </a:rPr>
              <a:t>目标: 全链路无人值守闭环完成</a:t>
            </a:r>
            <a:endParaRPr sz="1000" b="0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160000" y="1655999"/>
            <a:ext cx="288000" cy="2880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20000" y="208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微软雅黑" panose="020B0503020204020204" charset="-122"/>
              </a:rPr>
              <a:t>2027年+</a:t>
            </a:r>
            <a:endParaRPr sz="11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80000" y="259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 panose="020B0503020204020204" charset="-122"/>
              </a:rPr>
              <a:t>多场景适配
组织级推广
数据分析与洞察</a:t>
            </a:r>
            <a:endParaRPr sz="8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32975" y="4968040"/>
            <a:ext cx="2520000" cy="360000"/>
          </a:xfrm>
          <a:prstGeom prst="roundRect">
            <a:avLst>
              <a:gd name="adj" fmla="val 10000"/>
            </a:avLst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当前进度: 20%  |  重点: 声纹+待办+纪要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0000" y="6301905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 panose="020B0503020204020204" charset="-122"/>
              </a:rPr>
              <a:t>时间线基于开发团队三人(阿统/阿品/阿栈)并行开发预估 | 视资源投入可调整</a:t>
            </a:r>
            <a:endParaRPr sz="80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4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对用户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00000" y="1980000"/>
            <a:ext cx="720000" cy="432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000" y="2304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230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000" y="22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开会前不用准备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00000" y="2844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84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000" y="28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开会时只管说话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00000" y="3384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338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000" y="334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开完会不用整理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00000" y="3924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392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000" y="388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待办自动找人/催/跟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0000" y="14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对组织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00000" y="1980000"/>
            <a:ext cx="720000" cy="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00000" y="2304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0" y="230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88000" y="22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每次会议都对上次有交代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500000" y="2844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0" y="284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88000" y="28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每个决议都有人跟到底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500000" y="3384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0000" y="338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88000" y="334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不再有开会/执行断层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500000" y="3924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0000" y="392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88000" y="388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会议资产可追溯可复用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00000" y="14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对效率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00000" y="1980000"/>
            <a:ext cx="720000" cy="43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00000" y="2304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0000" y="230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88000" y="22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AI做掉90%运营工作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100000" y="2844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0000" y="284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88000" y="28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纪要5分钟自动生成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100000" y="3384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00000" y="338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88000" y="334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待办不再被遗忘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100000" y="3924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0000" y="392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88000" y="388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 panose="020B0503020204020204" charset="-122"/>
              </a:rPr>
              <a:t>新人无需交接即可上手</a:t>
            </a:r>
            <a:endParaRPr sz="1200" b="0">
              <a:solidFill>
                <a:srgbClr val="CCD5E0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0000" y="4680000"/>
            <a:ext cx="1008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 panose="020B0503020204020204" charset="-122"/>
              </a:rPr>
              <a:t>人只需要到场、发言、决策</a:t>
            </a:r>
            <a:endParaRPr sz="2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000" y="522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B4D0"/>
                </a:solidFill>
                <a:latin typeface="微软雅黑" panose="020B0503020204020204" charset="-122"/>
              </a:rPr>
              <a:t>从会议发起到待办落地跟踪，全链路无人值守</a:t>
            </a:r>
            <a:endParaRPr sz="1400" b="0">
              <a:solidFill>
                <a:srgbClr val="A0B4D0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0000" y="604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谢谢！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00000" y="604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智能会议系统 · 让每一场会议都有交代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Y2EzZGMyZjY1YTE1M2ExMzhhOWU4MTI5ZWFlZmRiODkifQ=="/>
  <p:tag name="resource_record_key" val="{&quot;13&quot;:[4364915,4364928,4364924,4722044,4519452,20419712,4364942],&quot;29&quot;:[50000049,50000076,50000031],&quot;65&quot;:[20205176],&quot;70&quot;:[3315601,3402935,3426754,3332761,3312621,3314434,3321866,3314659,3315984,3312359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5简"/>
        <a:cs typeface=""/>
      </a:majorFont>
      <a:minorFont>
        <a:latin typeface="Arial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</Words>
  <Application>WPS 演示</Application>
  <PresentationFormat>宽屏</PresentationFormat>
  <Paragraphs>515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汉仪旗黑-55简</vt:lpstr>
      <vt:lpstr>Wingdings</vt:lpstr>
      <vt:lpstr>汉仪雅酷黑 75W</vt:lpstr>
      <vt:lpstr>微软雅黑</vt:lpstr>
      <vt:lpstr>Arial Unicode MS</vt:lpstr>
      <vt:lpstr>汉仪旗黑-55简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GuoRujie</cp:lastModifiedBy>
  <cp:revision>209</cp:revision>
  <dcterms:created xsi:type="dcterms:W3CDTF">2019-06-19T02:08:00Z</dcterms:created>
  <dcterms:modified xsi:type="dcterms:W3CDTF">2026-05-14T16:42:19Z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4F648A00B1B24359AE58BB1130BE42EC_13</vt:lpwstr>
  </property>
  <property fmtid="{D5CDD505-2E9C-101B-9397-08002B2CF9AE}" pid="4" name="KSOTemplateUUID">
    <vt:lpwstr>v1.0_mb_AWtQxT0W98raguoOyhJU1w==</vt:lpwstr>
  </property>
</Properties>
</file>